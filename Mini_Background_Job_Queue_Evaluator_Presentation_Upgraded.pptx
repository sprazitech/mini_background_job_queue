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promise: the API accepts a job quickly; a background worker handles execution; the system saves enough information to inspect success or failure later.</a:t>
            </a:r>
          </a:p>
          <a:p>
            <a:r>
              <a:t>This is a proposal deck, not proof that an implementation exists. The right-hand “job pipeline” is a visual concept, not live telemetry. Replace the presenter/team placeholder before presenting.</a:t>
            </a:r>
          </a:p>
          <a:p>
            <a:r>
              <a:t>Suggested one-line pitch: “A small database-backed queue that makes background work trackable and recoverable.”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design shift is separating acceptance from execution. A synchronous endpoint makes the client wait for the slow task and risks request timeouts. In the proposed design, the API validates and stores a job, then returns HTTP 202 Accepted with a job ID. The worker handles the job outside the request lifecycle.</a:t>
            </a:r>
          </a:p>
          <a:p>
            <a:r>
              <a:t>Be precise: 202 means accepted for processing, not completed. The client checks the status endpoint to learn the final outcome.</a:t>
            </a:r>
          </a:p>
          <a:p>
            <a:r>
              <a:t>The bars are illustrative, not measured benchmark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all five stages in sequence. A submitted job is validated and persisted before the API sends a success response. The worker must claim the job safely so two workers do not process the same record concurrently. It then executes work and saves the final outcome.</a:t>
            </a:r>
          </a:p>
          <a:p>
            <a:r>
              <a:t>Canonical states for this MVP are queued, running, succeeded, and failed. A retryable failure may be reset to queued with a next-attempt timestamp; it does not need a separate public “retrying” state. Permanent failures and exhausted retries become failed.</a:t>
            </a:r>
          </a:p>
          <a:p>
            <a:r>
              <a:t>Use this naming consistently across API responses, database values, tests, and UI labels.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recommended MVP uses a database-backed queue. FastAPI exposes POST /jobs and GET status endpoints. A worker process polls the jobs table, atomically claims an eligible queued job, performs it, and writes updated status, attempt count, result, and error summary back to the same database. The UI reads status through the API.</a:t>
            </a:r>
          </a:p>
          <a:p>
            <a:r>
              <a:t>This avoids adding Redis or RabbitMQ before the core behavior is proven. It is appropriate for a small, low-volume demo, not a claim that database polling is optimal at scale.</a:t>
            </a:r>
          </a:p>
          <a:p>
            <a:r>
              <a:t>Concurrency requirement: claim must be atomic—e.g., a transaction that conditionally updates queued to running—or start with one worker and explicitly document the limitation. SQLite is fine locally; PostgreSQL is a sensible hosted choice. Choose one database path in implementation and test the actual deployment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contract shown here is proposed example data. POST /jobs validates the allowed job type and payload, stores a new job, and returns HTTP 202 Accepted with a stable ID. GET /jobs/{id} returns current status and, when available, result or a sanitized error summary. GET /jobs lists recent jobs, optionally filtered by status; GET /health provides a basic liveness check.</a:t>
            </a:r>
          </a:p>
          <a:p>
            <a:r>
              <a:t>Recommended persistent fields: id, type, payload, status, attempt_count, max_attempts, created_at, updated_at, started_at, finished_at, next_attempt_at, result, and last_error. Use JSON columns or serialized JSON where supported.</a:t>
            </a:r>
          </a:p>
          <a:p>
            <a:r>
              <a:t>Validate payload shape and size, restrict job types to an allowlist, paginate list results, and never return secrets or raw stack traces. Use actual fields and response examples once implementation is finalized.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four canonical states: queued, running, succeeded, failed. When a worker claims a job it moves to running. Success moves to succeeded. An error is classified: retryable transient errors go back to queued with a future next_attempt_at while attempts remain; permanent errors or exhausted retry limits become failed.</a:t>
            </a:r>
          </a:p>
          <a:p>
            <a:r>
              <a:t>For the first MVP, three total attempts is a reasonable example setting. The implementation should be configurable, and the exact count must be clear in tests. The diagram uses “max attempts including the first attempt.”</a:t>
            </a:r>
          </a:p>
          <a:p>
            <a:r>
              <a:t>Avoid promising exactly-once execution. A worker can finish a side effect and crash before recording success. Design the demo task to be idempotent. If a stale-running recovery mechanism is not implemented, explicitly list it as a limitation and do not imply crashed workers are automatically recovered.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UI concept with illustrative sample data—not a screenshot from an implemented product and not live monitoring. It shows the minimum useful dashboard: summary counts, recent jobs, statuses, attempt counts, and a way to filter or inspect failures. A new-job form should let the evaluator submit an allowlisted demo job without exposing arbitrary task execution.</a:t>
            </a:r>
          </a:p>
          <a:p>
            <a:r>
              <a:t>Keep the initial dashboard simple. A list with status badges and a detail view is enough; WebSockets and real-time charts are optional improvements. Polling the API every few seconds is a reasonable prototype choice, while respecting hosting and rate limits.</a:t>
            </a:r>
          </a:p>
          <a:p>
            <a:r>
              <a:t>When the real UI exists, replace this mockup with an authentic screenshot or adjust it to match the actual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test plan as acceptance criteria, not as completed test results. The happy path proves a valid request becomes a persisted job and eventually returns succeeded plus a result. The invalid-payload test proves bad input is rejected before a job is created. The retry tests use deterministic failure modes. A concurrency test proves that competing workers cannot both claim the same job record.</a:t>
            </a:r>
          </a:p>
          <a:p>
            <a:r>
              <a:t>Security basics: allowlist task types, validate payload structure/size, sanitize error output, avoid arbitrary shell/code execution, bound attempts and task runtime, and protect state transitions. Do not expose the service publicly without appropriate access control and limits.</a:t>
            </a:r>
          </a:p>
          <a:p>
            <a:r>
              <a:t>During the evaluator demo, be ready to show the actual test output or test command. Do not describe unrun tests as passed.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stack: a small HTML/JavaScript UI or React; Python with FastAPI for the API; SQLite for local development and PostgreSQL for deployed persistence; and a separate worker process. SQLAlchemy is a reasonable ORM option, but not mandatory for the MVP.</a:t>
            </a:r>
          </a:p>
          <a:p>
            <a:r>
              <a:t>Build in slices that run end-to-end. First persist and inspect a job. Then add a worker. Then retries and deterministic failure modes. Add the dashboard and automated tests. Finally deploy the API and worker with persistent storage, verify the public URL, and document how to run all processes.</a:t>
            </a:r>
          </a:p>
          <a:p>
            <a:r>
              <a:t>Do not select a deployment platform solely because the web service is free. Confirm that the chosen service supports a continuously running worker and persistent database under current plan limits. The environment variable list is illustrative; add PORT and any other configuration required by the chosen host. Never commit secrets.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exact sequence once the app has actually been built: submit a valid job, show 202 and the job ID, watch status updates, trigger a deterministic failing job, show attempts and final state, inspect the stored record, and run the relevant automated tests. A seeded job is helpful, but live interaction is stronger.</a:t>
            </a:r>
          </a:p>
          <a:p>
            <a:r>
              <a:t>Explain trade-offs honestly. Database polling reduces infrastructure for an MVP but creates periodic database load. One worker reduces concurrency complexity but limits throughput. Retrying improves resilience but can repeat side effects. A simple status dashboard is not comprehensive observability.</a:t>
            </a:r>
          </a:p>
          <a:p>
            <a:r>
              <a:t>Potential next steps: authentication/authorization, user ownership, stale-running job recovery, structured logs and metrics, scheduling, notifications, dead-letter handling, real-time updates, and a dedicated broker (Redis/RabbitMQ) when volume or throughput requirements justify it.</a:t>
            </a:r>
          </a:p>
          <a:p>
            <a:r>
              <a:t>Before claiming completion, provide a verified deployed URL and README. This slide and deck do not establish that the app is implemented or deployed.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65836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51392" y="65836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29216" y="65836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168128" y="65836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045952" y="65836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73568"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412480"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290304"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9216"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07040"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45952" y="1097280"/>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73568" y="153619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51392" y="153619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90304" y="153619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68128" y="153619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07040" y="153619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12480" y="1975104"/>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851392" y="1975104"/>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9216" y="1975104"/>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68128" y="1975104"/>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045952" y="1975104"/>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73568"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0"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90304"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29216"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607040"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045952" y="2414015"/>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73568" y="285292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851392" y="285292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90304" y="285292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68128" y="285292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607040" y="2852928"/>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12480" y="3291839"/>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51392" y="3291839"/>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729216" y="3291839"/>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68128" y="3291839"/>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045952" y="3291839"/>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73568"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412480"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290304"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729216"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607040"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1045952" y="3730752"/>
            <a:ext cx="32004" cy="32004"/>
          </a:xfrm>
          <a:prstGeom prst="ellipse">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982712" y="960120"/>
            <a:ext cx="3520440" cy="3520440"/>
          </a:xfrm>
          <a:prstGeom prst="ellipse">
            <a:avLst/>
          </a:prstGeom>
          <a:noFill/>
          <a:ln w="13970">
            <a:solidFill>
              <a:srgbClr val="183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357616" y="1335024"/>
            <a:ext cx="2770632" cy="2770632"/>
          </a:xfrm>
          <a:prstGeom prst="ellipse">
            <a:avLst/>
          </a:prstGeom>
          <a:noFill/>
          <a:ln w="13970">
            <a:solidFill>
              <a:srgbClr val="1F43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8" y="713232"/>
            <a:ext cx="429768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SYSTEMS PROJECT  /  BACKEND &amp; APIS</a:t>
            </a:r>
          </a:p>
        </p:txBody>
      </p:sp>
      <p:sp>
        <p:nvSpPr>
          <p:cNvPr id="49" name="TextBox 48"/>
          <p:cNvSpPr txBox="1"/>
          <p:nvPr/>
        </p:nvSpPr>
        <p:spPr>
          <a:xfrm>
            <a:off x="713232" y="1234440"/>
            <a:ext cx="6492240" cy="1572768"/>
          </a:xfrm>
          <a:prstGeom prst="rect">
            <a:avLst/>
          </a:prstGeom>
          <a:noFill/>
        </p:spPr>
        <p:txBody>
          <a:bodyPr wrap="square" lIns="18288" rIns="18288" tIns="18288" bIns="18288" anchor="t">
            <a:spAutoFit/>
          </a:bodyPr>
          <a:lstStyle/>
          <a:p>
            <a:pPr algn="l">
              <a:spcAft>
                <a:spcPts val="0"/>
              </a:spcAft>
              <a:defRPr sz="3900" b="1" i="0">
                <a:solidFill>
                  <a:srgbClr val="F4F7FF"/>
                </a:solidFill>
                <a:latin typeface="Aptos"/>
              </a:defRPr>
            </a:pPr>
            <a:r>
              <a:rPr sz="3900" b="1" i="0">
                <a:solidFill>
                  <a:srgbClr val="F4F7FF"/>
                </a:solidFill>
                <a:latin typeface="Aptos"/>
              </a:rPr>
              <a:t>Mini Background
Job Queue</a:t>
            </a:r>
          </a:p>
        </p:txBody>
      </p:sp>
      <p:sp>
        <p:nvSpPr>
          <p:cNvPr id="50" name="TextBox 49"/>
          <p:cNvSpPr txBox="1"/>
          <p:nvPr/>
        </p:nvSpPr>
        <p:spPr>
          <a:xfrm>
            <a:off x="768096" y="3063240"/>
            <a:ext cx="6126480" cy="731520"/>
          </a:xfrm>
          <a:prstGeom prst="rect">
            <a:avLst/>
          </a:prstGeom>
          <a:noFill/>
        </p:spPr>
        <p:txBody>
          <a:bodyPr wrap="square" lIns="18288" rIns="18288" tIns="18288" bIns="18288" anchor="t">
            <a:spAutoFit/>
          </a:bodyPr>
          <a:lstStyle/>
          <a:p>
            <a:pPr algn="l">
              <a:spcAft>
                <a:spcPts val="0"/>
              </a:spcAft>
              <a:defRPr sz="1800" b="0" i="0">
                <a:solidFill>
                  <a:srgbClr val="A5B4CF"/>
                </a:solidFill>
                <a:latin typeface="Aptos"/>
              </a:defRPr>
            </a:pPr>
            <a:r>
              <a:rPr sz="1800" b="0" i="0">
                <a:solidFill>
                  <a:srgbClr val="A5B4CF"/>
                </a:solidFill>
                <a:latin typeface="Aptos"/>
              </a:rPr>
              <a:t>Reliable background processing, without the complexity of a full distributed platform.</a:t>
            </a:r>
          </a:p>
        </p:txBody>
      </p:sp>
      <p:sp>
        <p:nvSpPr>
          <p:cNvPr id="51" name="Rounded Rectangle 50"/>
          <p:cNvSpPr/>
          <p:nvPr/>
        </p:nvSpPr>
        <p:spPr>
          <a:xfrm>
            <a:off x="768096" y="4160520"/>
            <a:ext cx="1325880" cy="310896"/>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4197096"/>
            <a:ext cx="1252728" cy="237744"/>
          </a:xfrm>
          <a:prstGeom prst="rect">
            <a:avLst/>
          </a:prstGeom>
          <a:noFill/>
        </p:spPr>
        <p:txBody>
          <a:bodyPr wrap="square" lIns="0" rIns="0" tIns="0" bIns="0" anchor="ctr">
            <a:spAutoFit/>
          </a:bodyPr>
          <a:lstStyle/>
          <a:p>
            <a:pPr algn="ctr">
              <a:spcAft>
                <a:spcPts val="0"/>
              </a:spcAft>
              <a:defRPr sz="900" b="1" i="0">
                <a:solidFill>
                  <a:srgbClr val="F4F7FF"/>
                </a:solidFill>
                <a:latin typeface="Aptos"/>
              </a:defRPr>
            </a:pPr>
            <a:r>
              <a:rPr sz="900" b="1" i="0">
                <a:solidFill>
                  <a:srgbClr val="F4F7FF"/>
                </a:solidFill>
                <a:latin typeface="Aptos"/>
              </a:rPr>
              <a:t>PROPOSED MVP</a:t>
            </a:r>
          </a:p>
        </p:txBody>
      </p:sp>
      <p:sp>
        <p:nvSpPr>
          <p:cNvPr id="53" name="TextBox 52"/>
          <p:cNvSpPr txBox="1"/>
          <p:nvPr/>
        </p:nvSpPr>
        <p:spPr>
          <a:xfrm>
            <a:off x="777240" y="4681728"/>
            <a:ext cx="6217920" cy="310896"/>
          </a:xfrm>
          <a:prstGeom prst="rect">
            <a:avLst/>
          </a:prstGeom>
          <a:noFill/>
        </p:spPr>
        <p:txBody>
          <a:bodyPr wrap="square" lIns="18288" rIns="18288" tIns="18288" bIns="18288" anchor="t">
            <a:spAutoFit/>
          </a:bodyPr>
          <a:lstStyle/>
          <a:p>
            <a:pPr algn="l">
              <a:spcAft>
                <a:spcPts val="0"/>
              </a:spcAft>
              <a:defRPr sz="1200" b="0" i="0">
                <a:solidFill>
                  <a:srgbClr val="F4F7FF"/>
                </a:solidFill>
                <a:latin typeface="Aptos"/>
              </a:defRPr>
            </a:pPr>
            <a:r>
              <a:rPr sz="1200" b="0" i="0">
                <a:solidFill>
                  <a:srgbClr val="F4F7FF"/>
                </a:solidFill>
                <a:latin typeface="Aptos"/>
              </a:rPr>
              <a:t>Evaluator presentation  •  Architecture, reliability, test plan</a:t>
            </a:r>
          </a:p>
        </p:txBody>
      </p:sp>
      <p:sp>
        <p:nvSpPr>
          <p:cNvPr id="54" name="TextBox 53"/>
          <p:cNvSpPr txBox="1"/>
          <p:nvPr/>
        </p:nvSpPr>
        <p:spPr>
          <a:xfrm>
            <a:off x="777240" y="5916168"/>
            <a:ext cx="4206240" cy="219456"/>
          </a:xfrm>
          <a:prstGeom prst="rect">
            <a:avLst/>
          </a:prstGeom>
          <a:noFill/>
        </p:spPr>
        <p:txBody>
          <a:bodyPr wrap="square" lIns="18288" rIns="18288" tIns="18288" bIns="18288" anchor="t">
            <a:spAutoFit/>
          </a:bodyPr>
          <a:lstStyle/>
          <a:p>
            <a:pPr algn="l">
              <a:spcAft>
                <a:spcPts val="0"/>
              </a:spcAft>
              <a:defRPr sz="1000" b="0" i="0">
                <a:solidFill>
                  <a:srgbClr val="778BAD"/>
                </a:solidFill>
                <a:latin typeface="Aptos"/>
              </a:defRPr>
            </a:pPr>
            <a:r>
              <a:rPr sz="1000" b="0" i="0">
                <a:solidFill>
                  <a:srgbClr val="778BAD"/>
                </a:solidFill>
                <a:latin typeface="Aptos"/>
              </a:rPr>
              <a:t>Presenter / team: [Add name]</a:t>
            </a:r>
          </a:p>
        </p:txBody>
      </p:sp>
      <p:sp>
        <p:nvSpPr>
          <p:cNvPr id="55" name="Rounded Rectangle 54"/>
          <p:cNvSpPr/>
          <p:nvPr/>
        </p:nvSpPr>
        <p:spPr>
          <a:xfrm>
            <a:off x="7927848" y="1371600"/>
            <a:ext cx="3520440" cy="3291840"/>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83879" y="1645920"/>
            <a:ext cx="1828800" cy="219456"/>
          </a:xfrm>
          <a:prstGeom prst="rect">
            <a:avLst/>
          </a:prstGeom>
          <a:noFill/>
        </p:spPr>
        <p:txBody>
          <a:bodyPr wrap="square" lIns="18288" rIns="18288" tIns="18288" bIns="18288" anchor="t">
            <a:spAutoFit/>
          </a:bodyPr>
          <a:lstStyle/>
          <a:p>
            <a:pPr algn="l">
              <a:spcAft>
                <a:spcPts val="0"/>
              </a:spcAft>
              <a:defRPr sz="1000" b="1" i="0">
                <a:solidFill>
                  <a:srgbClr val="3DE0D6"/>
                </a:solidFill>
                <a:latin typeface="Aptos"/>
              </a:defRPr>
            </a:pPr>
            <a:r>
              <a:rPr sz="1000" b="1" i="0" spc="60">
                <a:solidFill>
                  <a:srgbClr val="3DE0D6"/>
                </a:solidFill>
                <a:latin typeface="Aptos"/>
              </a:rPr>
              <a:t>JOB PIPELINE</a:t>
            </a:r>
          </a:p>
        </p:txBody>
      </p:sp>
      <p:sp>
        <p:nvSpPr>
          <p:cNvPr id="57" name="Rounded Rectangle 56"/>
          <p:cNvSpPr/>
          <p:nvPr/>
        </p:nvSpPr>
        <p:spPr>
          <a:xfrm>
            <a:off x="9637776" y="1618488"/>
            <a:ext cx="1417320" cy="237744"/>
          </a:xfrm>
          <a:prstGeom prst="roundRect">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74351" y="1655064"/>
            <a:ext cx="1344168" cy="164592"/>
          </a:xfrm>
          <a:prstGeom prst="rect">
            <a:avLst/>
          </a:prstGeom>
          <a:noFill/>
        </p:spPr>
        <p:txBody>
          <a:bodyPr wrap="square" lIns="0" rIns="0" tIns="0" bIns="0" anchor="ctr">
            <a:spAutoFit/>
          </a:bodyPr>
          <a:lstStyle/>
          <a:p>
            <a:pPr algn="ctr">
              <a:spcAft>
                <a:spcPts val="0"/>
              </a:spcAft>
              <a:defRPr sz="750" b="1" i="0">
                <a:solidFill>
                  <a:srgbClr val="F4F7FF"/>
                </a:solidFill>
                <a:latin typeface="Aptos"/>
              </a:defRPr>
            </a:pPr>
            <a:r>
              <a:rPr sz="750" b="1" i="0">
                <a:solidFill>
                  <a:srgbClr val="F4F7FF"/>
                </a:solidFill>
                <a:latin typeface="Aptos"/>
              </a:rPr>
              <a:t>LIVE VIEW CONCEPT</a:t>
            </a:r>
          </a:p>
        </p:txBody>
      </p:sp>
      <p:sp>
        <p:nvSpPr>
          <p:cNvPr id="59" name="Rounded Rectangle 58"/>
          <p:cNvSpPr/>
          <p:nvPr/>
        </p:nvSpPr>
        <p:spPr>
          <a:xfrm>
            <a:off x="8202168" y="2029968"/>
            <a:ext cx="2962656" cy="39319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339327" y="2157984"/>
            <a:ext cx="118872" cy="118872"/>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77072" y="2112264"/>
            <a:ext cx="1042415"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queued</a:t>
            </a:r>
          </a:p>
        </p:txBody>
      </p:sp>
      <p:sp>
        <p:nvSpPr>
          <p:cNvPr id="62" name="TextBox 61"/>
          <p:cNvSpPr txBox="1"/>
          <p:nvPr/>
        </p:nvSpPr>
        <p:spPr>
          <a:xfrm>
            <a:off x="9646920" y="2121408"/>
            <a:ext cx="1344168" cy="173736"/>
          </a:xfrm>
          <a:prstGeom prst="rect">
            <a:avLst/>
          </a:prstGeom>
          <a:noFill/>
        </p:spPr>
        <p:txBody>
          <a:bodyPr wrap="square" lIns="18288" rIns="18288" tIns="18288" bIns="18288" anchor="t">
            <a:spAutoFit/>
          </a:bodyPr>
          <a:lstStyle/>
          <a:p>
            <a:pPr algn="r">
              <a:spcAft>
                <a:spcPts val="0"/>
              </a:spcAft>
              <a:defRPr sz="850" b="0" i="0">
                <a:solidFill>
                  <a:srgbClr val="A5B4CF"/>
                </a:solidFill>
                <a:latin typeface="Aptos"/>
              </a:defRPr>
            </a:pPr>
            <a:r>
              <a:rPr sz="850" b="0" i="0">
                <a:solidFill>
                  <a:srgbClr val="A5B4CF"/>
                </a:solidFill>
                <a:latin typeface="Aptos"/>
              </a:rPr>
              <a:t>Waiting for worker</a:t>
            </a:r>
          </a:p>
        </p:txBody>
      </p:sp>
      <p:sp>
        <p:nvSpPr>
          <p:cNvPr id="63" name="Rounded Rectangle 62"/>
          <p:cNvSpPr/>
          <p:nvPr/>
        </p:nvSpPr>
        <p:spPr>
          <a:xfrm>
            <a:off x="8202168" y="2551176"/>
            <a:ext cx="2962656" cy="39319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339327" y="2679192"/>
            <a:ext cx="118872" cy="118872"/>
          </a:xfrm>
          <a:prstGeom prst="ellips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577072" y="2633472"/>
            <a:ext cx="1042415"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running</a:t>
            </a:r>
          </a:p>
        </p:txBody>
      </p:sp>
      <p:sp>
        <p:nvSpPr>
          <p:cNvPr id="66" name="TextBox 65"/>
          <p:cNvSpPr txBox="1"/>
          <p:nvPr/>
        </p:nvSpPr>
        <p:spPr>
          <a:xfrm>
            <a:off x="9646920" y="2642616"/>
            <a:ext cx="1344168" cy="173736"/>
          </a:xfrm>
          <a:prstGeom prst="rect">
            <a:avLst/>
          </a:prstGeom>
          <a:noFill/>
        </p:spPr>
        <p:txBody>
          <a:bodyPr wrap="square" lIns="18288" rIns="18288" tIns="18288" bIns="18288" anchor="t">
            <a:spAutoFit/>
          </a:bodyPr>
          <a:lstStyle/>
          <a:p>
            <a:pPr algn="r">
              <a:spcAft>
                <a:spcPts val="0"/>
              </a:spcAft>
              <a:defRPr sz="850" b="0" i="0">
                <a:solidFill>
                  <a:srgbClr val="A5B4CF"/>
                </a:solidFill>
                <a:latin typeface="Aptos"/>
              </a:defRPr>
            </a:pPr>
            <a:r>
              <a:rPr sz="850" b="0" i="0">
                <a:solidFill>
                  <a:srgbClr val="A5B4CF"/>
                </a:solidFill>
                <a:latin typeface="Aptos"/>
              </a:rPr>
              <a:t>Execution in progress</a:t>
            </a:r>
          </a:p>
        </p:txBody>
      </p:sp>
      <p:sp>
        <p:nvSpPr>
          <p:cNvPr id="67" name="Rounded Rectangle 66"/>
          <p:cNvSpPr/>
          <p:nvPr/>
        </p:nvSpPr>
        <p:spPr>
          <a:xfrm>
            <a:off x="8202168" y="3072384"/>
            <a:ext cx="2962656" cy="39319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339327" y="3200400"/>
            <a:ext cx="118872" cy="118872"/>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77072" y="3154680"/>
            <a:ext cx="1042415"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retry</a:t>
            </a:r>
          </a:p>
        </p:txBody>
      </p:sp>
      <p:sp>
        <p:nvSpPr>
          <p:cNvPr id="70" name="TextBox 69"/>
          <p:cNvSpPr txBox="1"/>
          <p:nvPr/>
        </p:nvSpPr>
        <p:spPr>
          <a:xfrm>
            <a:off x="9646920" y="3163824"/>
            <a:ext cx="1344168" cy="173736"/>
          </a:xfrm>
          <a:prstGeom prst="rect">
            <a:avLst/>
          </a:prstGeom>
          <a:noFill/>
        </p:spPr>
        <p:txBody>
          <a:bodyPr wrap="square" lIns="18288" rIns="18288" tIns="18288" bIns="18288" anchor="t">
            <a:spAutoFit/>
          </a:bodyPr>
          <a:lstStyle/>
          <a:p>
            <a:pPr algn="r">
              <a:spcAft>
                <a:spcPts val="0"/>
              </a:spcAft>
              <a:defRPr sz="850" b="0" i="0">
                <a:solidFill>
                  <a:srgbClr val="A5B4CF"/>
                </a:solidFill>
                <a:latin typeface="Aptos"/>
              </a:defRPr>
            </a:pPr>
            <a:r>
              <a:rPr sz="850" b="0" i="0">
                <a:solidFill>
                  <a:srgbClr val="A5B4CF"/>
                </a:solidFill>
                <a:latin typeface="Aptos"/>
              </a:rPr>
              <a:t>Recoverable failure</a:t>
            </a:r>
          </a:p>
        </p:txBody>
      </p:sp>
      <p:sp>
        <p:nvSpPr>
          <p:cNvPr id="71" name="Rounded Rectangle 70"/>
          <p:cNvSpPr/>
          <p:nvPr/>
        </p:nvSpPr>
        <p:spPr>
          <a:xfrm>
            <a:off x="8202168" y="3593592"/>
            <a:ext cx="2962656" cy="39319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339327" y="3721608"/>
            <a:ext cx="118872" cy="118872"/>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77072" y="3675888"/>
            <a:ext cx="1042415"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succeeded</a:t>
            </a:r>
          </a:p>
        </p:txBody>
      </p:sp>
      <p:sp>
        <p:nvSpPr>
          <p:cNvPr id="74" name="TextBox 73"/>
          <p:cNvSpPr txBox="1"/>
          <p:nvPr/>
        </p:nvSpPr>
        <p:spPr>
          <a:xfrm>
            <a:off x="9646920" y="3685032"/>
            <a:ext cx="1344168" cy="173736"/>
          </a:xfrm>
          <a:prstGeom prst="rect">
            <a:avLst/>
          </a:prstGeom>
          <a:noFill/>
        </p:spPr>
        <p:txBody>
          <a:bodyPr wrap="square" lIns="18288" rIns="18288" tIns="18288" bIns="18288" anchor="t">
            <a:spAutoFit/>
          </a:bodyPr>
          <a:lstStyle/>
          <a:p>
            <a:pPr algn="r">
              <a:spcAft>
                <a:spcPts val="0"/>
              </a:spcAft>
              <a:defRPr sz="850" b="0" i="0">
                <a:solidFill>
                  <a:srgbClr val="A5B4CF"/>
                </a:solidFill>
                <a:latin typeface="Aptos"/>
              </a:defRPr>
            </a:pPr>
            <a:r>
              <a:rPr sz="850" b="0" i="0">
                <a:solidFill>
                  <a:srgbClr val="A5B4CF"/>
                </a:solidFill>
                <a:latin typeface="Aptos"/>
              </a:rPr>
              <a:t>Result persisted</a:t>
            </a:r>
          </a:p>
        </p:txBody>
      </p:sp>
      <p:cxnSp>
        <p:nvCxnSpPr>
          <p:cNvPr id="75" name="Connector 74"/>
          <p:cNvCxnSpPr/>
          <p:nvPr/>
        </p:nvCxnSpPr>
        <p:spPr>
          <a:xfrm>
            <a:off x="8165592" y="5056632"/>
            <a:ext cx="3008376" cy="0"/>
          </a:xfrm>
          <a:prstGeom prst="line">
            <a:avLst/>
          </a:prstGeom>
          <a:ln w="10160">
            <a:solidFill>
              <a:srgbClr val="2C3D5B"/>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8202168" y="5230368"/>
            <a:ext cx="3017520" cy="256032"/>
          </a:xfrm>
          <a:prstGeom prst="rect">
            <a:avLst/>
          </a:prstGeom>
          <a:noFill/>
        </p:spPr>
        <p:txBody>
          <a:bodyPr wrap="square" lIns="27432" rIns="27432" tIns="27432" bIns="27432" anchor="t">
            <a:spAutoFit/>
          </a:bodyPr>
          <a:lstStyle/>
          <a:p>
            <a:pPr algn="l">
              <a:spcAft>
                <a:spcPts val="0"/>
              </a:spcAft>
            </a:pPr>
            <a:r>
              <a:rPr sz="900" b="1" i="0">
                <a:solidFill>
                  <a:srgbClr val="3DE0D6"/>
                </a:solidFill>
                <a:latin typeface="Aptos"/>
              </a:rPr>
              <a:t>ONE CLEAR FLOW  </a:t>
            </a:r>
            <a:r>
              <a:rPr sz="900" b="1" i="0">
                <a:solidFill>
                  <a:srgbClr val="F4F7FF"/>
                </a:solidFill>
                <a:latin typeface="Aptos"/>
              </a:rPr>
              <a:t>SUBMIT → PROCESS → INSPECT</a:t>
            </a:r>
          </a:p>
        </p:txBody>
      </p:sp>
      <p:sp>
        <p:nvSpPr>
          <p:cNvPr id="77" name="Rectangle 76"/>
          <p:cNvSpPr/>
          <p:nvPr/>
        </p:nvSpPr>
        <p:spPr>
          <a:xfrm>
            <a:off x="749808" y="6291072"/>
            <a:ext cx="10698480" cy="18288"/>
          </a:xfrm>
          <a:prstGeom prst="rect">
            <a:avLst/>
          </a:prstGeom>
          <a:solidFill>
            <a:srgbClr val="2C3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68096" y="6382512"/>
            <a:ext cx="9326880" cy="164592"/>
          </a:xfrm>
          <a:prstGeom prst="rect">
            <a:avLst/>
          </a:prstGeom>
          <a:noFill/>
        </p:spPr>
        <p:txBody>
          <a:bodyPr wrap="square" lIns="18288" rIns="18288" tIns="18288" bIns="18288" anchor="t">
            <a:spAutoFit/>
          </a:bodyPr>
          <a:lstStyle/>
          <a:p>
            <a:pPr algn="l">
              <a:spcAft>
                <a:spcPts val="0"/>
              </a:spcAft>
              <a:defRPr sz="850" b="1" i="0">
                <a:solidFill>
                  <a:srgbClr val="778BAD"/>
                </a:solidFill>
                <a:latin typeface="Aptos"/>
              </a:defRPr>
            </a:pPr>
            <a:r>
              <a:rPr sz="850" b="1" i="0">
                <a:solidFill>
                  <a:srgbClr val="778BAD"/>
                </a:solidFill>
                <a:latin typeface="Aptos"/>
              </a:rPr>
              <a:t>Design goal: observable behavior, bounded retries, and a demonstrable failure path.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01  /  THE PROBLEM</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Keep the API responsive. Move slow work off the request.</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02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02</a:t>
            </a:r>
          </a:p>
        </p:txBody>
      </p:sp>
      <p:sp>
        <p:nvSpPr>
          <p:cNvPr id="10" name="Rounded Rectangle 9"/>
          <p:cNvSpPr/>
          <p:nvPr/>
        </p:nvSpPr>
        <p:spPr>
          <a:xfrm>
            <a:off x="676656" y="1627632"/>
            <a:ext cx="5230368" cy="349300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65376"/>
            <a:ext cx="2560320" cy="201168"/>
          </a:xfrm>
          <a:prstGeom prst="rect">
            <a:avLst/>
          </a:prstGeom>
          <a:noFill/>
        </p:spPr>
        <p:txBody>
          <a:bodyPr wrap="square" lIns="18288" rIns="18288" tIns="18288" bIns="18288" anchor="t">
            <a:spAutoFit/>
          </a:bodyPr>
          <a:lstStyle/>
          <a:p>
            <a:pPr algn="l">
              <a:spcAft>
                <a:spcPts val="0"/>
              </a:spcAft>
              <a:defRPr sz="900" b="1" i="0">
                <a:solidFill>
                  <a:srgbClr val="FF6F8C"/>
                </a:solidFill>
                <a:latin typeface="Aptos"/>
              </a:defRPr>
            </a:pPr>
            <a:r>
              <a:rPr sz="900" b="1" i="0" spc="80">
                <a:solidFill>
                  <a:srgbClr val="FF6F8C"/>
                </a:solidFill>
                <a:latin typeface="Aptos"/>
              </a:rPr>
              <a:t>TODAY: SYNCHRONOUS</a:t>
            </a:r>
          </a:p>
        </p:txBody>
      </p:sp>
      <p:sp>
        <p:nvSpPr>
          <p:cNvPr id="12" name="TextBox 11"/>
          <p:cNvSpPr txBox="1"/>
          <p:nvPr/>
        </p:nvSpPr>
        <p:spPr>
          <a:xfrm>
            <a:off x="932688" y="2221992"/>
            <a:ext cx="4526280" cy="347472"/>
          </a:xfrm>
          <a:prstGeom prst="rect">
            <a:avLst/>
          </a:prstGeom>
          <a:noFill/>
        </p:spPr>
        <p:txBody>
          <a:bodyPr wrap="square" lIns="18288" rIns="18288" tIns="18288" bIns="18288" anchor="t">
            <a:spAutoFit/>
          </a:bodyPr>
          <a:lstStyle/>
          <a:p>
            <a:pPr algn="l">
              <a:spcAft>
                <a:spcPts val="0"/>
              </a:spcAft>
              <a:defRPr sz="1900" b="1" i="0">
                <a:solidFill>
                  <a:srgbClr val="F4F7FF"/>
                </a:solidFill>
                <a:latin typeface="Aptos"/>
              </a:defRPr>
            </a:pPr>
            <a:r>
              <a:rPr sz="1900" b="1" i="0">
                <a:solidFill>
                  <a:srgbClr val="F4F7FF"/>
                </a:solidFill>
                <a:latin typeface="Aptos"/>
              </a:rPr>
              <a:t>The request waits for the task</a:t>
            </a:r>
          </a:p>
        </p:txBody>
      </p:sp>
      <p:sp>
        <p:nvSpPr>
          <p:cNvPr id="13" name="Rounded Rectangle 12"/>
          <p:cNvSpPr/>
          <p:nvPr/>
        </p:nvSpPr>
        <p:spPr>
          <a:xfrm>
            <a:off x="941832" y="2834640"/>
            <a:ext cx="1115568" cy="804672"/>
          </a:xfrm>
          <a:prstGeom prst="roundRect">
            <a:avLst/>
          </a:prstGeom>
          <a:solidFill>
            <a:srgbClr val="17243D"/>
          </a:solidFill>
          <a:ln w="10160">
            <a:solidFill>
              <a:srgbClr val="FF6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41832" y="2834640"/>
            <a:ext cx="1115568" cy="50292"/>
          </a:xfrm>
          <a:prstGeom prst="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990088"/>
            <a:ext cx="932688"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Client</a:t>
            </a:r>
          </a:p>
        </p:txBody>
      </p:sp>
      <p:sp>
        <p:nvSpPr>
          <p:cNvPr id="16" name="TextBox 15"/>
          <p:cNvSpPr txBox="1"/>
          <p:nvPr/>
        </p:nvSpPr>
        <p:spPr>
          <a:xfrm>
            <a:off x="1033272" y="3319272"/>
            <a:ext cx="932688"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waits</a:t>
            </a:r>
          </a:p>
        </p:txBody>
      </p:sp>
      <p:sp>
        <p:nvSpPr>
          <p:cNvPr id="17" name="Rounded Rectangle 16"/>
          <p:cNvSpPr/>
          <p:nvPr/>
        </p:nvSpPr>
        <p:spPr>
          <a:xfrm>
            <a:off x="2542032" y="2834640"/>
            <a:ext cx="1143000" cy="804672"/>
          </a:xfrm>
          <a:prstGeom prst="roundRect">
            <a:avLst/>
          </a:prstGeom>
          <a:solidFill>
            <a:srgbClr val="17243D"/>
          </a:solidFill>
          <a:ln w="10160">
            <a:solidFill>
              <a:srgbClr val="FF6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42032" y="2834640"/>
            <a:ext cx="1143000" cy="50292"/>
          </a:xfrm>
          <a:prstGeom prst="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33472" y="2990088"/>
            <a:ext cx="960120"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API</a:t>
            </a:r>
          </a:p>
        </p:txBody>
      </p:sp>
      <p:sp>
        <p:nvSpPr>
          <p:cNvPr id="20" name="TextBox 19"/>
          <p:cNvSpPr txBox="1"/>
          <p:nvPr/>
        </p:nvSpPr>
        <p:spPr>
          <a:xfrm>
            <a:off x="2633472" y="3319272"/>
            <a:ext cx="960120"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holds request</a:t>
            </a:r>
          </a:p>
        </p:txBody>
      </p:sp>
      <p:sp>
        <p:nvSpPr>
          <p:cNvPr id="21" name="Rounded Rectangle 20"/>
          <p:cNvSpPr/>
          <p:nvPr/>
        </p:nvSpPr>
        <p:spPr>
          <a:xfrm>
            <a:off x="4160520" y="2834640"/>
            <a:ext cx="1225296" cy="804672"/>
          </a:xfrm>
          <a:prstGeom prst="roundRect">
            <a:avLst/>
          </a:prstGeom>
          <a:solidFill>
            <a:srgbClr val="17243D"/>
          </a:solidFill>
          <a:ln w="10160">
            <a:solidFill>
              <a:srgbClr val="FF6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60520" y="2834640"/>
            <a:ext cx="1225296" cy="50292"/>
          </a:xfrm>
          <a:prstGeom prst="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990088"/>
            <a:ext cx="1042416"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Slow task</a:t>
            </a:r>
          </a:p>
        </p:txBody>
      </p:sp>
      <p:sp>
        <p:nvSpPr>
          <p:cNvPr id="24" name="TextBox 23"/>
          <p:cNvSpPr txBox="1"/>
          <p:nvPr/>
        </p:nvSpPr>
        <p:spPr>
          <a:xfrm>
            <a:off x="4251959" y="3319272"/>
            <a:ext cx="1042416"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long-running</a:t>
            </a:r>
          </a:p>
        </p:txBody>
      </p:sp>
      <p:cxnSp>
        <p:nvCxnSpPr>
          <p:cNvPr id="25" name="Connector 24"/>
          <p:cNvCxnSpPr/>
          <p:nvPr/>
        </p:nvCxnSpPr>
        <p:spPr>
          <a:xfrm>
            <a:off x="2112264" y="3227832"/>
            <a:ext cx="365760" cy="0"/>
          </a:xfrm>
          <a:prstGeom prst="line">
            <a:avLst/>
          </a:prstGeom>
          <a:ln w="21590">
            <a:solidFill>
              <a:srgbClr val="FF6F8C"/>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2414016" y="3163824"/>
            <a:ext cx="128016" cy="128016"/>
          </a:xfrm>
          <a:prstGeom prst="triangl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703320" y="3227832"/>
            <a:ext cx="393192" cy="0"/>
          </a:xfrm>
          <a:prstGeom prst="line">
            <a:avLst/>
          </a:prstGeom>
          <a:ln w="21590">
            <a:solidFill>
              <a:srgbClr val="FF6F8C"/>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4032504" y="3163824"/>
            <a:ext cx="128016" cy="128016"/>
          </a:xfrm>
          <a:prstGeom prst="triangl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120" y="3977639"/>
            <a:ext cx="4343400" cy="384048"/>
          </a:xfrm>
          <a:prstGeom prst="roundRect">
            <a:avLst/>
          </a:prstGeom>
          <a:solidFill>
            <a:srgbClr val="361B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120" y="3977639"/>
            <a:ext cx="3246120" cy="384048"/>
          </a:xfrm>
          <a:prstGeom prst="round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992" y="4087368"/>
            <a:ext cx="2194560" cy="137160"/>
          </a:xfrm>
          <a:prstGeom prst="rect">
            <a:avLst/>
          </a:prstGeom>
          <a:noFill/>
        </p:spPr>
        <p:txBody>
          <a:bodyPr wrap="square" lIns="18288" rIns="18288" tIns="18288" bIns="18288" anchor="t">
            <a:spAutoFit/>
          </a:bodyPr>
          <a:lstStyle/>
          <a:p>
            <a:pPr algn="l">
              <a:spcAft>
                <a:spcPts val="0"/>
              </a:spcAft>
              <a:defRPr sz="850" b="1" i="0">
                <a:solidFill>
                  <a:srgbClr val="F4F7FF"/>
                </a:solidFill>
                <a:latin typeface="Aptos"/>
              </a:defRPr>
            </a:pPr>
            <a:r>
              <a:rPr sz="850" b="1" i="0">
                <a:solidFill>
                  <a:srgbClr val="F4F7FF"/>
                </a:solidFill>
                <a:latin typeface="Aptos"/>
              </a:rPr>
              <a:t>TIME SPENT WAITING</a:t>
            </a:r>
          </a:p>
        </p:txBody>
      </p:sp>
      <p:sp>
        <p:nvSpPr>
          <p:cNvPr id="32" name="TextBox 31"/>
          <p:cNvSpPr txBox="1"/>
          <p:nvPr/>
        </p:nvSpPr>
        <p:spPr>
          <a:xfrm>
            <a:off x="950976" y="4572000"/>
            <a:ext cx="4480560" cy="228600"/>
          </a:xfrm>
          <a:prstGeom prst="rect">
            <a:avLst/>
          </a:prstGeom>
          <a:noFill/>
        </p:spPr>
        <p:txBody>
          <a:bodyPr wrap="square" lIns="18288" rIns="18288" tIns="18288" bIns="18288" anchor="t">
            <a:spAutoFit/>
          </a:bodyPr>
          <a:lstStyle/>
          <a:p>
            <a:pPr algn="l">
              <a:spcAft>
                <a:spcPts val="0"/>
              </a:spcAft>
              <a:defRPr sz="1050" b="0" i="0">
                <a:solidFill>
                  <a:srgbClr val="A5B4CF"/>
                </a:solidFill>
                <a:latin typeface="Aptos"/>
              </a:defRPr>
            </a:pPr>
            <a:r>
              <a:rPr sz="1050" b="0" i="0">
                <a:solidFill>
                  <a:srgbClr val="A5B4CF"/>
                </a:solidFill>
                <a:latin typeface="Aptos"/>
              </a:rPr>
              <a:t>Timeout risk  •  tied-up capacity  •  unclear recovery</a:t>
            </a:r>
          </a:p>
        </p:txBody>
      </p:sp>
      <p:sp>
        <p:nvSpPr>
          <p:cNvPr id="33" name="Rounded Rectangle 32"/>
          <p:cNvSpPr/>
          <p:nvPr/>
        </p:nvSpPr>
        <p:spPr>
          <a:xfrm>
            <a:off x="6199632" y="1627632"/>
            <a:ext cx="5285232" cy="349300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1865376"/>
            <a:ext cx="27432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TARGET: ASYNCHRONOUS</a:t>
            </a:r>
          </a:p>
        </p:txBody>
      </p:sp>
      <p:sp>
        <p:nvSpPr>
          <p:cNvPr id="35" name="TextBox 34"/>
          <p:cNvSpPr txBox="1"/>
          <p:nvPr/>
        </p:nvSpPr>
        <p:spPr>
          <a:xfrm>
            <a:off x="6446520" y="2221992"/>
            <a:ext cx="4572000" cy="347472"/>
          </a:xfrm>
          <a:prstGeom prst="rect">
            <a:avLst/>
          </a:prstGeom>
          <a:noFill/>
        </p:spPr>
        <p:txBody>
          <a:bodyPr wrap="square" lIns="18288" rIns="18288" tIns="18288" bIns="18288" anchor="t">
            <a:spAutoFit/>
          </a:bodyPr>
          <a:lstStyle/>
          <a:p>
            <a:pPr algn="l">
              <a:spcAft>
                <a:spcPts val="0"/>
              </a:spcAft>
              <a:defRPr sz="1800" b="1" i="0">
                <a:solidFill>
                  <a:srgbClr val="F4F7FF"/>
                </a:solidFill>
                <a:latin typeface="Aptos"/>
              </a:defRPr>
            </a:pPr>
            <a:r>
              <a:rPr sz="1800" b="1" i="0">
                <a:solidFill>
                  <a:srgbClr val="F4F7FF"/>
                </a:solidFill>
                <a:latin typeface="Aptos"/>
              </a:rPr>
              <a:t>Accept now. Execute in the background.</a:t>
            </a:r>
          </a:p>
        </p:txBody>
      </p:sp>
      <p:sp>
        <p:nvSpPr>
          <p:cNvPr id="36" name="Rounded Rectangle 35"/>
          <p:cNvSpPr/>
          <p:nvPr/>
        </p:nvSpPr>
        <p:spPr>
          <a:xfrm>
            <a:off x="6446520" y="2834640"/>
            <a:ext cx="1143000" cy="804672"/>
          </a:xfrm>
          <a:prstGeom prst="roundRect">
            <a:avLst/>
          </a:prstGeom>
          <a:solidFill>
            <a:srgbClr val="17243D"/>
          </a:solidFill>
          <a:ln w="10160">
            <a:solidFill>
              <a:srgbClr val="5D7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2834640"/>
            <a:ext cx="1143000" cy="50292"/>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59" y="2990088"/>
            <a:ext cx="960120"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Client</a:t>
            </a:r>
          </a:p>
        </p:txBody>
      </p:sp>
      <p:sp>
        <p:nvSpPr>
          <p:cNvPr id="39" name="TextBox 38"/>
          <p:cNvSpPr txBox="1"/>
          <p:nvPr/>
        </p:nvSpPr>
        <p:spPr>
          <a:xfrm>
            <a:off x="6537959" y="3319272"/>
            <a:ext cx="960120"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gets job ID</a:t>
            </a:r>
          </a:p>
        </p:txBody>
      </p:sp>
      <p:sp>
        <p:nvSpPr>
          <p:cNvPr id="40" name="Rounded Rectangle 39"/>
          <p:cNvSpPr/>
          <p:nvPr/>
        </p:nvSpPr>
        <p:spPr>
          <a:xfrm>
            <a:off x="8074152" y="2834640"/>
            <a:ext cx="1161288" cy="804672"/>
          </a:xfrm>
          <a:prstGeom prst="roundRect">
            <a:avLst/>
          </a:prstGeom>
          <a:solidFill>
            <a:srgbClr val="17243D"/>
          </a:solidFill>
          <a:ln w="10160">
            <a:solidFill>
              <a:srgbClr val="3D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74152" y="2834640"/>
            <a:ext cx="1161288" cy="50292"/>
          </a:xfrm>
          <a:prstGeom prst="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65592" y="2990088"/>
            <a:ext cx="978408"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API</a:t>
            </a:r>
          </a:p>
        </p:txBody>
      </p:sp>
      <p:sp>
        <p:nvSpPr>
          <p:cNvPr id="43" name="TextBox 42"/>
          <p:cNvSpPr txBox="1"/>
          <p:nvPr/>
        </p:nvSpPr>
        <p:spPr>
          <a:xfrm>
            <a:off x="8165592" y="3319272"/>
            <a:ext cx="978408"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returns 202</a:t>
            </a:r>
          </a:p>
        </p:txBody>
      </p:sp>
      <p:sp>
        <p:nvSpPr>
          <p:cNvPr id="44" name="Rounded Rectangle 43"/>
          <p:cNvSpPr/>
          <p:nvPr/>
        </p:nvSpPr>
        <p:spPr>
          <a:xfrm>
            <a:off x="9710928" y="2834640"/>
            <a:ext cx="1353312" cy="804672"/>
          </a:xfrm>
          <a:prstGeom prst="roundRect">
            <a:avLst/>
          </a:prstGeom>
          <a:solidFill>
            <a:srgbClr val="17243D"/>
          </a:solidFill>
          <a:ln w="10160">
            <a:solidFill>
              <a:srgbClr val="6BE6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10928" y="2834640"/>
            <a:ext cx="1353312" cy="50292"/>
          </a:xfrm>
          <a:prstGeom prst="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02367" y="2990088"/>
            <a:ext cx="1170432" cy="256032"/>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Worker</a:t>
            </a:r>
          </a:p>
        </p:txBody>
      </p:sp>
      <p:sp>
        <p:nvSpPr>
          <p:cNvPr id="47" name="TextBox 46"/>
          <p:cNvSpPr txBox="1"/>
          <p:nvPr/>
        </p:nvSpPr>
        <p:spPr>
          <a:xfrm>
            <a:off x="9802367" y="3319272"/>
            <a:ext cx="1170432" cy="246888"/>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runs later</a:t>
            </a:r>
          </a:p>
        </p:txBody>
      </p:sp>
      <p:cxnSp>
        <p:nvCxnSpPr>
          <p:cNvPr id="48" name="Connector 47"/>
          <p:cNvCxnSpPr/>
          <p:nvPr/>
        </p:nvCxnSpPr>
        <p:spPr>
          <a:xfrm>
            <a:off x="7616952" y="3227832"/>
            <a:ext cx="393192" cy="0"/>
          </a:xfrm>
          <a:prstGeom prst="line">
            <a:avLst/>
          </a:prstGeom>
          <a:ln w="21590">
            <a:solidFill>
              <a:srgbClr val="3DE0D6"/>
            </a:solidFill>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5400000">
            <a:off x="7946136" y="316382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9262872" y="3227832"/>
            <a:ext cx="384048" cy="0"/>
          </a:xfrm>
          <a:prstGeom prst="line">
            <a:avLst/>
          </a:prstGeom>
          <a:ln w="21590">
            <a:solidFill>
              <a:srgbClr val="3DE0D6"/>
            </a:solidFill>
          </a:ln>
        </p:spPr>
        <p:style>
          <a:lnRef idx="2">
            <a:schemeClr val="accent1"/>
          </a:lnRef>
          <a:fillRef idx="0">
            <a:schemeClr val="accent1"/>
          </a:fillRef>
          <a:effectRef idx="1">
            <a:schemeClr val="accent1"/>
          </a:effectRef>
          <a:fontRef idx="minor">
            <a:schemeClr val="tx1"/>
          </a:fontRef>
        </p:style>
      </p:cxnSp>
      <p:sp>
        <p:nvSpPr>
          <p:cNvPr id="51" name="Isosceles Triangle 50"/>
          <p:cNvSpPr/>
          <p:nvPr/>
        </p:nvSpPr>
        <p:spPr>
          <a:xfrm rot="5400000">
            <a:off x="9582912" y="316382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464808" y="3977639"/>
            <a:ext cx="4361688" cy="384048"/>
          </a:xfrm>
          <a:prstGeom prst="roundRect">
            <a:avLst/>
          </a:prstGeom>
          <a:solidFill>
            <a:srgbClr val="143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464808" y="3977639"/>
            <a:ext cx="1371600" cy="384048"/>
          </a:xfrm>
          <a:prstGeom prst="round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65392" y="4087368"/>
            <a:ext cx="1097280" cy="137160"/>
          </a:xfrm>
          <a:prstGeom prst="rect">
            <a:avLst/>
          </a:prstGeom>
          <a:noFill/>
        </p:spPr>
        <p:txBody>
          <a:bodyPr wrap="square" lIns="18288" rIns="18288" tIns="18288" bIns="18288" anchor="t">
            <a:spAutoFit/>
          </a:bodyPr>
          <a:lstStyle/>
          <a:p>
            <a:pPr algn="l">
              <a:spcAft>
                <a:spcPts val="0"/>
              </a:spcAft>
              <a:defRPr sz="850" b="1" i="0">
                <a:solidFill>
                  <a:srgbClr val="090E1C"/>
                </a:solidFill>
                <a:latin typeface="Aptos"/>
              </a:defRPr>
            </a:pPr>
            <a:r>
              <a:rPr sz="850" b="1" i="0">
                <a:solidFill>
                  <a:srgbClr val="090E1C"/>
                </a:solidFill>
                <a:latin typeface="Aptos"/>
              </a:rPr>
              <a:t>FAST ACK</a:t>
            </a:r>
          </a:p>
        </p:txBody>
      </p:sp>
      <p:sp>
        <p:nvSpPr>
          <p:cNvPr id="55" name="TextBox 54"/>
          <p:cNvSpPr txBox="1"/>
          <p:nvPr/>
        </p:nvSpPr>
        <p:spPr>
          <a:xfrm>
            <a:off x="6455664" y="4572000"/>
            <a:ext cx="4526280" cy="228600"/>
          </a:xfrm>
          <a:prstGeom prst="rect">
            <a:avLst/>
          </a:prstGeom>
          <a:noFill/>
        </p:spPr>
        <p:txBody>
          <a:bodyPr wrap="square" lIns="18288" rIns="18288" tIns="18288" bIns="18288" anchor="t">
            <a:spAutoFit/>
          </a:bodyPr>
          <a:lstStyle/>
          <a:p>
            <a:pPr algn="l">
              <a:spcAft>
                <a:spcPts val="0"/>
              </a:spcAft>
              <a:defRPr sz="1050" b="0" i="0">
                <a:solidFill>
                  <a:srgbClr val="A5B4CF"/>
                </a:solidFill>
                <a:latin typeface="Aptos"/>
              </a:defRPr>
            </a:pPr>
            <a:r>
              <a:rPr sz="1050" b="0" i="0">
                <a:solidFill>
                  <a:srgbClr val="A5B4CF"/>
                </a:solidFill>
                <a:latin typeface="Aptos"/>
              </a:rPr>
              <a:t>Persist status  •  retry safely  •  inspect later</a:t>
            </a:r>
          </a:p>
        </p:txBody>
      </p:sp>
      <p:sp>
        <p:nvSpPr>
          <p:cNvPr id="56" name="Rounded Rectangle 55"/>
          <p:cNvSpPr/>
          <p:nvPr/>
        </p:nvSpPr>
        <p:spPr>
          <a:xfrm>
            <a:off x="694944" y="5440680"/>
            <a:ext cx="10771632" cy="53035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5605272"/>
            <a:ext cx="10287000" cy="192024"/>
          </a:xfrm>
          <a:prstGeom prst="rect">
            <a:avLst/>
          </a:prstGeom>
          <a:noFill/>
        </p:spPr>
        <p:txBody>
          <a:bodyPr wrap="square" lIns="27432" rIns="27432" tIns="27432" bIns="27432" anchor="t">
            <a:spAutoFit/>
          </a:bodyPr>
          <a:lstStyle/>
          <a:p>
            <a:pPr algn="l">
              <a:spcAft>
                <a:spcPts val="0"/>
              </a:spcAft>
            </a:pPr>
            <a:r>
              <a:rPr sz="1100" b="1" i="0">
                <a:solidFill>
                  <a:srgbClr val="3DE0D6"/>
                </a:solidFill>
                <a:latin typeface="Aptos"/>
              </a:rPr>
              <a:t>SUCCESS LOOKS LIKE  </a:t>
            </a:r>
            <a:r>
              <a:rPr sz="1200" b="1" i="0">
                <a:solidFill>
                  <a:srgbClr val="F4F7FF"/>
                </a:solidFill>
                <a:latin typeface="Aptos"/>
              </a:rPr>
              <a:t>202 Accepted + a job ID, durable status updates, and an observable final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02  /  THE USER FLOW</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One job. Five steps. A status you can trust.</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03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03</a:t>
            </a:r>
          </a:p>
        </p:txBody>
      </p:sp>
      <p:sp>
        <p:nvSpPr>
          <p:cNvPr id="10" name="Rounded Rectangle 9"/>
          <p:cNvSpPr/>
          <p:nvPr/>
        </p:nvSpPr>
        <p:spPr>
          <a:xfrm>
            <a:off x="731520" y="1938528"/>
            <a:ext cx="1773936" cy="138988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6968" y="2121408"/>
            <a:ext cx="384048" cy="246888"/>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157984"/>
            <a:ext cx="310896" cy="173736"/>
          </a:xfrm>
          <a:prstGeom prst="rect">
            <a:avLst/>
          </a:prstGeom>
          <a:noFill/>
        </p:spPr>
        <p:txBody>
          <a:bodyPr wrap="square" lIns="0" rIns="0" tIns="0" bIns="0" anchor="ctr">
            <a:spAutoFit/>
          </a:bodyPr>
          <a:lstStyle/>
          <a:p>
            <a:pPr algn="ctr">
              <a:spcAft>
                <a:spcPts val="0"/>
              </a:spcAft>
              <a:defRPr sz="800" b="1" i="0">
                <a:solidFill>
                  <a:srgbClr val="F4F7FF"/>
                </a:solidFill>
                <a:latin typeface="Aptos"/>
              </a:defRPr>
            </a:pPr>
            <a:r>
              <a:rPr sz="800" b="1" i="0">
                <a:solidFill>
                  <a:srgbClr val="F4F7FF"/>
                </a:solidFill>
                <a:latin typeface="Aptos"/>
              </a:rPr>
              <a:t>01</a:t>
            </a:r>
          </a:p>
        </p:txBody>
      </p:sp>
      <p:sp>
        <p:nvSpPr>
          <p:cNvPr id="13" name="TextBox 12"/>
          <p:cNvSpPr txBox="1"/>
          <p:nvPr/>
        </p:nvSpPr>
        <p:spPr>
          <a:xfrm>
            <a:off x="886968" y="2514600"/>
            <a:ext cx="1444752" cy="237744"/>
          </a:xfrm>
          <a:prstGeom prst="rect">
            <a:avLst/>
          </a:prstGeom>
          <a:noFill/>
        </p:spPr>
        <p:txBody>
          <a:bodyPr wrap="square" lIns="18288" rIns="18288" tIns="18288" bIns="18288" anchor="t">
            <a:spAutoFit/>
          </a:bodyPr>
          <a:lstStyle/>
          <a:p>
            <a:pPr algn="l">
              <a:spcAft>
                <a:spcPts val="0"/>
              </a:spcAft>
              <a:defRPr sz="1300" b="1" i="0">
                <a:solidFill>
                  <a:srgbClr val="F4F7FF"/>
                </a:solidFill>
                <a:latin typeface="Aptos"/>
              </a:defRPr>
            </a:pPr>
            <a:r>
              <a:rPr sz="1300" b="1" i="0">
                <a:solidFill>
                  <a:srgbClr val="F4F7FF"/>
                </a:solidFill>
                <a:latin typeface="Aptos"/>
              </a:rPr>
              <a:t>SUBMIT</a:t>
            </a:r>
          </a:p>
        </p:txBody>
      </p:sp>
      <p:sp>
        <p:nvSpPr>
          <p:cNvPr id="14" name="TextBox 13"/>
          <p:cNvSpPr txBox="1"/>
          <p:nvPr/>
        </p:nvSpPr>
        <p:spPr>
          <a:xfrm>
            <a:off x="886968" y="2834640"/>
            <a:ext cx="1444752" cy="21945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POST /jobs</a:t>
            </a:r>
          </a:p>
        </p:txBody>
      </p:sp>
      <p:cxnSp>
        <p:nvCxnSpPr>
          <p:cNvPr id="15" name="Connector 14"/>
          <p:cNvCxnSpPr/>
          <p:nvPr/>
        </p:nvCxnSpPr>
        <p:spPr>
          <a:xfrm>
            <a:off x="2542032" y="2633472"/>
            <a:ext cx="347472" cy="0"/>
          </a:xfrm>
          <a:prstGeom prst="line">
            <a:avLst/>
          </a:prstGeom>
          <a:ln w="20320">
            <a:solidFill>
              <a:srgbClr val="3DE0D6"/>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2825496" y="256946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71800" y="1938528"/>
            <a:ext cx="1773936" cy="138988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127248" y="2121408"/>
            <a:ext cx="384048" cy="246888"/>
          </a:xfrm>
          <a:prstGeom prst="roundRect">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63824" y="2157984"/>
            <a:ext cx="310896" cy="173736"/>
          </a:xfrm>
          <a:prstGeom prst="rect">
            <a:avLst/>
          </a:prstGeom>
          <a:noFill/>
        </p:spPr>
        <p:txBody>
          <a:bodyPr wrap="square" lIns="0" rIns="0" tIns="0" bIns="0" anchor="ctr">
            <a:spAutoFit/>
          </a:bodyPr>
          <a:lstStyle/>
          <a:p>
            <a:pPr algn="ctr">
              <a:spcAft>
                <a:spcPts val="0"/>
              </a:spcAft>
              <a:defRPr sz="800" b="1" i="0">
                <a:solidFill>
                  <a:srgbClr val="F4F7FF"/>
                </a:solidFill>
                <a:latin typeface="Aptos"/>
              </a:defRPr>
            </a:pPr>
            <a:r>
              <a:rPr sz="800" b="1" i="0">
                <a:solidFill>
                  <a:srgbClr val="F4F7FF"/>
                </a:solidFill>
                <a:latin typeface="Aptos"/>
              </a:rPr>
              <a:t>02</a:t>
            </a:r>
          </a:p>
        </p:txBody>
      </p:sp>
      <p:sp>
        <p:nvSpPr>
          <p:cNvPr id="20" name="TextBox 19"/>
          <p:cNvSpPr txBox="1"/>
          <p:nvPr/>
        </p:nvSpPr>
        <p:spPr>
          <a:xfrm>
            <a:off x="3127248" y="2514600"/>
            <a:ext cx="1444752" cy="237744"/>
          </a:xfrm>
          <a:prstGeom prst="rect">
            <a:avLst/>
          </a:prstGeom>
          <a:noFill/>
        </p:spPr>
        <p:txBody>
          <a:bodyPr wrap="square" lIns="18288" rIns="18288" tIns="18288" bIns="18288" anchor="t">
            <a:spAutoFit/>
          </a:bodyPr>
          <a:lstStyle/>
          <a:p>
            <a:pPr algn="l">
              <a:spcAft>
                <a:spcPts val="0"/>
              </a:spcAft>
              <a:defRPr sz="1300" b="1" i="0">
                <a:solidFill>
                  <a:srgbClr val="F4F7FF"/>
                </a:solidFill>
                <a:latin typeface="Aptos"/>
              </a:defRPr>
            </a:pPr>
            <a:r>
              <a:rPr sz="1300" b="1" i="0">
                <a:solidFill>
                  <a:srgbClr val="F4F7FF"/>
                </a:solidFill>
                <a:latin typeface="Aptos"/>
              </a:rPr>
              <a:t>PERSIST</a:t>
            </a:r>
          </a:p>
        </p:txBody>
      </p:sp>
      <p:sp>
        <p:nvSpPr>
          <p:cNvPr id="21" name="TextBox 20"/>
          <p:cNvSpPr txBox="1"/>
          <p:nvPr/>
        </p:nvSpPr>
        <p:spPr>
          <a:xfrm>
            <a:off x="3127248" y="2834640"/>
            <a:ext cx="1444752" cy="21945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Store job record</a:t>
            </a:r>
          </a:p>
        </p:txBody>
      </p:sp>
      <p:cxnSp>
        <p:nvCxnSpPr>
          <p:cNvPr id="22" name="Connector 21"/>
          <p:cNvCxnSpPr/>
          <p:nvPr/>
        </p:nvCxnSpPr>
        <p:spPr>
          <a:xfrm>
            <a:off x="4782312" y="2633472"/>
            <a:ext cx="347472" cy="0"/>
          </a:xfrm>
          <a:prstGeom prst="line">
            <a:avLst/>
          </a:prstGeom>
          <a:ln w="20320">
            <a:solidFill>
              <a:srgbClr val="3DE0D6"/>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5065776" y="256946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212080" y="1938528"/>
            <a:ext cx="1773936" cy="138988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367528" y="2121408"/>
            <a:ext cx="384048" cy="246888"/>
          </a:xfrm>
          <a:prstGeom prst="round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4104" y="2157984"/>
            <a:ext cx="310896" cy="173736"/>
          </a:xfrm>
          <a:prstGeom prst="rect">
            <a:avLst/>
          </a:prstGeom>
          <a:noFill/>
        </p:spPr>
        <p:txBody>
          <a:bodyPr wrap="square" lIns="0" rIns="0" tIns="0" bIns="0" anchor="ctr">
            <a:spAutoFit/>
          </a:bodyPr>
          <a:lstStyle/>
          <a:p>
            <a:pPr algn="ctr">
              <a:spcAft>
                <a:spcPts val="0"/>
              </a:spcAft>
              <a:defRPr sz="800" b="1" i="0">
                <a:solidFill>
                  <a:srgbClr val="F4F7FF"/>
                </a:solidFill>
                <a:latin typeface="Aptos"/>
              </a:defRPr>
            </a:pPr>
            <a:r>
              <a:rPr sz="800" b="1" i="0">
                <a:solidFill>
                  <a:srgbClr val="F4F7FF"/>
                </a:solidFill>
                <a:latin typeface="Aptos"/>
              </a:rPr>
              <a:t>03</a:t>
            </a:r>
          </a:p>
        </p:txBody>
      </p:sp>
      <p:sp>
        <p:nvSpPr>
          <p:cNvPr id="27" name="TextBox 26"/>
          <p:cNvSpPr txBox="1"/>
          <p:nvPr/>
        </p:nvSpPr>
        <p:spPr>
          <a:xfrm>
            <a:off x="5367528" y="2514600"/>
            <a:ext cx="1444752" cy="237744"/>
          </a:xfrm>
          <a:prstGeom prst="rect">
            <a:avLst/>
          </a:prstGeom>
          <a:noFill/>
        </p:spPr>
        <p:txBody>
          <a:bodyPr wrap="square" lIns="18288" rIns="18288" tIns="18288" bIns="18288" anchor="t">
            <a:spAutoFit/>
          </a:bodyPr>
          <a:lstStyle/>
          <a:p>
            <a:pPr algn="l">
              <a:spcAft>
                <a:spcPts val="0"/>
              </a:spcAft>
              <a:defRPr sz="1300" b="1" i="0">
                <a:solidFill>
                  <a:srgbClr val="F4F7FF"/>
                </a:solidFill>
                <a:latin typeface="Aptos"/>
              </a:defRPr>
            </a:pPr>
            <a:r>
              <a:rPr sz="1300" b="1" i="0">
                <a:solidFill>
                  <a:srgbClr val="F4F7FF"/>
                </a:solidFill>
                <a:latin typeface="Aptos"/>
              </a:rPr>
              <a:t>CLAIM</a:t>
            </a:r>
          </a:p>
        </p:txBody>
      </p:sp>
      <p:sp>
        <p:nvSpPr>
          <p:cNvPr id="28" name="TextBox 27"/>
          <p:cNvSpPr txBox="1"/>
          <p:nvPr/>
        </p:nvSpPr>
        <p:spPr>
          <a:xfrm>
            <a:off x="5367528" y="2834640"/>
            <a:ext cx="1444752" cy="21945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Worker owns job</a:t>
            </a:r>
          </a:p>
        </p:txBody>
      </p:sp>
      <p:cxnSp>
        <p:nvCxnSpPr>
          <p:cNvPr id="29" name="Connector 28"/>
          <p:cNvCxnSpPr/>
          <p:nvPr/>
        </p:nvCxnSpPr>
        <p:spPr>
          <a:xfrm>
            <a:off x="7022592" y="2633472"/>
            <a:ext cx="347472" cy="0"/>
          </a:xfrm>
          <a:prstGeom prst="line">
            <a:avLst/>
          </a:prstGeom>
          <a:ln w="20320">
            <a:solidFill>
              <a:srgbClr val="3DE0D6"/>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7306056" y="256946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52360" y="1938528"/>
            <a:ext cx="1773936" cy="138988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607808" y="2121408"/>
            <a:ext cx="384048" cy="246888"/>
          </a:xfrm>
          <a:prstGeom prst="roundRect">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44383" y="2157984"/>
            <a:ext cx="310896" cy="173736"/>
          </a:xfrm>
          <a:prstGeom prst="rect">
            <a:avLst/>
          </a:prstGeom>
          <a:noFill/>
        </p:spPr>
        <p:txBody>
          <a:bodyPr wrap="square" lIns="0" rIns="0" tIns="0" bIns="0" anchor="ctr">
            <a:spAutoFit/>
          </a:bodyPr>
          <a:lstStyle/>
          <a:p>
            <a:pPr algn="ctr">
              <a:spcAft>
                <a:spcPts val="0"/>
              </a:spcAft>
              <a:defRPr sz="800" b="1" i="0">
                <a:solidFill>
                  <a:srgbClr val="090E1C"/>
                </a:solidFill>
                <a:latin typeface="Aptos"/>
              </a:defRPr>
            </a:pPr>
            <a:r>
              <a:rPr sz="800" b="1" i="0">
                <a:solidFill>
                  <a:srgbClr val="090E1C"/>
                </a:solidFill>
                <a:latin typeface="Aptos"/>
              </a:rPr>
              <a:t>04</a:t>
            </a:r>
          </a:p>
        </p:txBody>
      </p:sp>
      <p:sp>
        <p:nvSpPr>
          <p:cNvPr id="34" name="TextBox 33"/>
          <p:cNvSpPr txBox="1"/>
          <p:nvPr/>
        </p:nvSpPr>
        <p:spPr>
          <a:xfrm>
            <a:off x="7607808" y="2514600"/>
            <a:ext cx="1444752" cy="237744"/>
          </a:xfrm>
          <a:prstGeom prst="rect">
            <a:avLst/>
          </a:prstGeom>
          <a:noFill/>
        </p:spPr>
        <p:txBody>
          <a:bodyPr wrap="square" lIns="18288" rIns="18288" tIns="18288" bIns="18288" anchor="t">
            <a:spAutoFit/>
          </a:bodyPr>
          <a:lstStyle/>
          <a:p>
            <a:pPr algn="l">
              <a:spcAft>
                <a:spcPts val="0"/>
              </a:spcAft>
              <a:defRPr sz="1300" b="1" i="0">
                <a:solidFill>
                  <a:srgbClr val="F4F7FF"/>
                </a:solidFill>
                <a:latin typeface="Aptos"/>
              </a:defRPr>
            </a:pPr>
            <a:r>
              <a:rPr sz="1300" b="1" i="0">
                <a:solidFill>
                  <a:srgbClr val="F4F7FF"/>
                </a:solidFill>
                <a:latin typeface="Aptos"/>
              </a:rPr>
              <a:t>EXECUTE</a:t>
            </a:r>
          </a:p>
        </p:txBody>
      </p:sp>
      <p:sp>
        <p:nvSpPr>
          <p:cNvPr id="35" name="TextBox 34"/>
          <p:cNvSpPr txBox="1"/>
          <p:nvPr/>
        </p:nvSpPr>
        <p:spPr>
          <a:xfrm>
            <a:off x="7607808" y="2834640"/>
            <a:ext cx="1444752" cy="21945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Run task / retry</a:t>
            </a:r>
          </a:p>
        </p:txBody>
      </p:sp>
      <p:cxnSp>
        <p:nvCxnSpPr>
          <p:cNvPr id="36" name="Connector 35"/>
          <p:cNvCxnSpPr/>
          <p:nvPr/>
        </p:nvCxnSpPr>
        <p:spPr>
          <a:xfrm>
            <a:off x="9262872" y="2633472"/>
            <a:ext cx="347472" cy="0"/>
          </a:xfrm>
          <a:prstGeom prst="line">
            <a:avLst/>
          </a:prstGeom>
          <a:ln w="20320">
            <a:solidFill>
              <a:srgbClr val="3DE0D6"/>
            </a:solidFill>
          </a:ln>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rot="5400000">
            <a:off x="9546336" y="2569464"/>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692640" y="1938528"/>
            <a:ext cx="1773936" cy="1389888"/>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848088" y="2121408"/>
            <a:ext cx="384048" cy="246888"/>
          </a:xfrm>
          <a:prstGeom prst="round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84663" y="2157984"/>
            <a:ext cx="310896" cy="173736"/>
          </a:xfrm>
          <a:prstGeom prst="rect">
            <a:avLst/>
          </a:prstGeom>
          <a:noFill/>
        </p:spPr>
        <p:txBody>
          <a:bodyPr wrap="square" lIns="0" rIns="0" tIns="0" bIns="0" anchor="ctr">
            <a:spAutoFit/>
          </a:bodyPr>
          <a:lstStyle/>
          <a:p>
            <a:pPr algn="ctr">
              <a:spcAft>
                <a:spcPts val="0"/>
              </a:spcAft>
              <a:defRPr sz="800" b="1" i="0">
                <a:solidFill>
                  <a:srgbClr val="F4F7FF"/>
                </a:solidFill>
                <a:latin typeface="Aptos"/>
              </a:defRPr>
            </a:pPr>
            <a:r>
              <a:rPr sz="800" b="1" i="0">
                <a:solidFill>
                  <a:srgbClr val="F4F7FF"/>
                </a:solidFill>
                <a:latin typeface="Aptos"/>
              </a:rPr>
              <a:t>05</a:t>
            </a:r>
          </a:p>
        </p:txBody>
      </p:sp>
      <p:sp>
        <p:nvSpPr>
          <p:cNvPr id="41" name="TextBox 40"/>
          <p:cNvSpPr txBox="1"/>
          <p:nvPr/>
        </p:nvSpPr>
        <p:spPr>
          <a:xfrm>
            <a:off x="9848088" y="2514600"/>
            <a:ext cx="1444752" cy="237744"/>
          </a:xfrm>
          <a:prstGeom prst="rect">
            <a:avLst/>
          </a:prstGeom>
          <a:noFill/>
        </p:spPr>
        <p:txBody>
          <a:bodyPr wrap="square" lIns="18288" rIns="18288" tIns="18288" bIns="18288" anchor="t">
            <a:spAutoFit/>
          </a:bodyPr>
          <a:lstStyle/>
          <a:p>
            <a:pPr algn="l">
              <a:spcAft>
                <a:spcPts val="0"/>
              </a:spcAft>
              <a:defRPr sz="1300" b="1" i="0">
                <a:solidFill>
                  <a:srgbClr val="F4F7FF"/>
                </a:solidFill>
                <a:latin typeface="Aptos"/>
              </a:defRPr>
            </a:pPr>
            <a:r>
              <a:rPr sz="1300" b="1" i="0">
                <a:solidFill>
                  <a:srgbClr val="F4F7FF"/>
                </a:solidFill>
                <a:latin typeface="Aptos"/>
              </a:rPr>
              <a:t>INSPECT</a:t>
            </a:r>
          </a:p>
        </p:txBody>
      </p:sp>
      <p:sp>
        <p:nvSpPr>
          <p:cNvPr id="42" name="TextBox 41"/>
          <p:cNvSpPr txBox="1"/>
          <p:nvPr/>
        </p:nvSpPr>
        <p:spPr>
          <a:xfrm>
            <a:off x="9848088" y="2834640"/>
            <a:ext cx="1444752" cy="21945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GET status + result</a:t>
            </a:r>
          </a:p>
        </p:txBody>
      </p:sp>
      <p:sp>
        <p:nvSpPr>
          <p:cNvPr id="43" name="TextBox 42"/>
          <p:cNvSpPr txBox="1"/>
          <p:nvPr/>
        </p:nvSpPr>
        <p:spPr>
          <a:xfrm>
            <a:off x="777240" y="3794760"/>
            <a:ext cx="27432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LIFECYCLE OUTCOMES</a:t>
            </a:r>
          </a:p>
        </p:txBody>
      </p:sp>
      <p:sp>
        <p:nvSpPr>
          <p:cNvPr id="44" name="Rounded Rectangle 43"/>
          <p:cNvSpPr/>
          <p:nvPr/>
        </p:nvSpPr>
        <p:spPr>
          <a:xfrm>
            <a:off x="749808" y="4169663"/>
            <a:ext cx="5184648" cy="1143000"/>
          </a:xfrm>
          <a:prstGeom prst="roundRect">
            <a:avLst/>
          </a:prstGeom>
          <a:solidFill>
            <a:srgbClr val="102B2A"/>
          </a:solidFill>
          <a:ln w="10160">
            <a:solidFill>
              <a:srgbClr val="265F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60120" y="4379976"/>
            <a:ext cx="868680" cy="256032"/>
          </a:xfrm>
          <a:prstGeom prst="round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6696" y="4416552"/>
            <a:ext cx="795528" cy="182880"/>
          </a:xfrm>
          <a:prstGeom prst="rect">
            <a:avLst/>
          </a:prstGeom>
          <a:noFill/>
        </p:spPr>
        <p:txBody>
          <a:bodyPr wrap="square" lIns="0" rIns="0" tIns="0" bIns="0" anchor="ctr">
            <a:spAutoFit/>
          </a:bodyPr>
          <a:lstStyle/>
          <a:p>
            <a:pPr algn="ctr">
              <a:spcAft>
                <a:spcPts val="0"/>
              </a:spcAft>
              <a:defRPr sz="800" b="1" i="0">
                <a:solidFill>
                  <a:srgbClr val="090E1C"/>
                </a:solidFill>
                <a:latin typeface="Aptos"/>
              </a:defRPr>
            </a:pPr>
            <a:r>
              <a:rPr sz="800" b="1" i="0">
                <a:solidFill>
                  <a:srgbClr val="090E1C"/>
                </a:solidFill>
                <a:latin typeface="Aptos"/>
              </a:rPr>
              <a:t>SUCCESS</a:t>
            </a:r>
          </a:p>
        </p:txBody>
      </p:sp>
      <p:sp>
        <p:nvSpPr>
          <p:cNvPr id="47" name="TextBox 46"/>
          <p:cNvSpPr txBox="1"/>
          <p:nvPr/>
        </p:nvSpPr>
        <p:spPr>
          <a:xfrm>
            <a:off x="1993392" y="4370832"/>
            <a:ext cx="3611880" cy="256032"/>
          </a:xfrm>
          <a:prstGeom prst="rect">
            <a:avLst/>
          </a:prstGeom>
          <a:noFill/>
        </p:spPr>
        <p:txBody>
          <a:bodyPr wrap="square" lIns="18288" rIns="18288" tIns="18288" bIns="18288" anchor="t">
            <a:spAutoFit/>
          </a:bodyPr>
          <a:lstStyle/>
          <a:p>
            <a:pPr algn="l">
              <a:spcAft>
                <a:spcPts val="0"/>
              </a:spcAft>
              <a:defRPr sz="1400" b="1" i="0">
                <a:solidFill>
                  <a:srgbClr val="F4F7FF"/>
                </a:solidFill>
                <a:latin typeface="Aptos"/>
              </a:defRPr>
            </a:pPr>
            <a:r>
              <a:rPr sz="1400" b="1" i="0">
                <a:solidFill>
                  <a:srgbClr val="F4F7FF"/>
                </a:solidFill>
                <a:latin typeface="Aptos"/>
              </a:rPr>
              <a:t>queued  →  running  →  succeeded</a:t>
            </a:r>
          </a:p>
        </p:txBody>
      </p:sp>
      <p:sp>
        <p:nvSpPr>
          <p:cNvPr id="48" name="TextBox 47"/>
          <p:cNvSpPr txBox="1"/>
          <p:nvPr/>
        </p:nvSpPr>
        <p:spPr>
          <a:xfrm>
            <a:off x="978408" y="4800600"/>
            <a:ext cx="4389120" cy="201168"/>
          </a:xfrm>
          <a:prstGeom prst="rect">
            <a:avLst/>
          </a:prstGeom>
          <a:noFill/>
        </p:spPr>
        <p:txBody>
          <a:bodyPr wrap="square" lIns="18288" rIns="18288" tIns="18288" bIns="18288" anchor="t">
            <a:spAutoFit/>
          </a:bodyPr>
          <a:lstStyle/>
          <a:p>
            <a:pPr algn="l">
              <a:spcAft>
                <a:spcPts val="0"/>
              </a:spcAft>
              <a:defRPr sz="1000" b="0" i="0">
                <a:solidFill>
                  <a:srgbClr val="A5B4CF"/>
                </a:solidFill>
                <a:latin typeface="Aptos"/>
              </a:defRPr>
            </a:pPr>
            <a:r>
              <a:rPr sz="1000" b="0" i="0">
                <a:solidFill>
                  <a:srgbClr val="A5B4CF"/>
                </a:solidFill>
                <a:latin typeface="Aptos"/>
              </a:rPr>
              <a:t>Result and finish timestamp are persisted.</a:t>
            </a:r>
          </a:p>
        </p:txBody>
      </p:sp>
      <p:sp>
        <p:nvSpPr>
          <p:cNvPr id="49" name="Rounded Rectangle 48"/>
          <p:cNvSpPr/>
          <p:nvPr/>
        </p:nvSpPr>
        <p:spPr>
          <a:xfrm>
            <a:off x="6199632" y="4169663"/>
            <a:ext cx="5212080" cy="1143000"/>
          </a:xfrm>
          <a:prstGeom prst="roundRect">
            <a:avLst/>
          </a:prstGeom>
          <a:solidFill>
            <a:srgbClr val="2F251B"/>
          </a:solidFill>
          <a:ln w="10160">
            <a:solidFill>
              <a:srgbClr val="7855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391656" y="4379976"/>
            <a:ext cx="969264" cy="256032"/>
          </a:xfrm>
          <a:prstGeom prst="roundRect">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28232" y="4416552"/>
            <a:ext cx="896112" cy="182880"/>
          </a:xfrm>
          <a:prstGeom prst="rect">
            <a:avLst/>
          </a:prstGeom>
          <a:noFill/>
        </p:spPr>
        <p:txBody>
          <a:bodyPr wrap="square" lIns="0" rIns="0" tIns="0" bIns="0" anchor="ctr">
            <a:spAutoFit/>
          </a:bodyPr>
          <a:lstStyle/>
          <a:p>
            <a:pPr algn="ctr">
              <a:spcAft>
                <a:spcPts val="0"/>
              </a:spcAft>
              <a:defRPr sz="800" b="1" i="0">
                <a:solidFill>
                  <a:srgbClr val="090E1C"/>
                </a:solidFill>
                <a:latin typeface="Aptos"/>
              </a:defRPr>
            </a:pPr>
            <a:r>
              <a:rPr sz="800" b="1" i="0">
                <a:solidFill>
                  <a:srgbClr val="090E1C"/>
                </a:solidFill>
                <a:latin typeface="Aptos"/>
              </a:rPr>
              <a:t>RECOVERY</a:t>
            </a:r>
          </a:p>
        </p:txBody>
      </p:sp>
      <p:sp>
        <p:nvSpPr>
          <p:cNvPr id="52" name="TextBox 51"/>
          <p:cNvSpPr txBox="1"/>
          <p:nvPr/>
        </p:nvSpPr>
        <p:spPr>
          <a:xfrm>
            <a:off x="7498079" y="4370832"/>
            <a:ext cx="3584448" cy="256032"/>
          </a:xfrm>
          <a:prstGeom prst="rect">
            <a:avLst/>
          </a:prstGeom>
          <a:noFill/>
        </p:spPr>
        <p:txBody>
          <a:bodyPr wrap="square" lIns="18288" rIns="18288" tIns="18288" bIns="18288" anchor="t">
            <a:spAutoFit/>
          </a:bodyPr>
          <a:lstStyle/>
          <a:p>
            <a:pPr algn="l">
              <a:spcAft>
                <a:spcPts val="0"/>
              </a:spcAft>
              <a:defRPr sz="1400" b="1" i="0">
                <a:solidFill>
                  <a:srgbClr val="F4F7FF"/>
                </a:solidFill>
                <a:latin typeface="Aptos"/>
              </a:defRPr>
            </a:pPr>
            <a:r>
              <a:rPr sz="1400" b="1" i="0">
                <a:solidFill>
                  <a:srgbClr val="F4F7FF"/>
                </a:solidFill>
                <a:latin typeface="Aptos"/>
              </a:rPr>
              <a:t>running  →  queued again or failed</a:t>
            </a:r>
          </a:p>
        </p:txBody>
      </p:sp>
      <p:sp>
        <p:nvSpPr>
          <p:cNvPr id="53" name="TextBox 52"/>
          <p:cNvSpPr txBox="1"/>
          <p:nvPr/>
        </p:nvSpPr>
        <p:spPr>
          <a:xfrm>
            <a:off x="6419088" y="4800600"/>
            <a:ext cx="4480560" cy="201168"/>
          </a:xfrm>
          <a:prstGeom prst="rect">
            <a:avLst/>
          </a:prstGeom>
          <a:noFill/>
        </p:spPr>
        <p:txBody>
          <a:bodyPr wrap="square" lIns="18288" rIns="18288" tIns="18288" bIns="18288" anchor="t">
            <a:spAutoFit/>
          </a:bodyPr>
          <a:lstStyle/>
          <a:p>
            <a:pPr algn="l">
              <a:spcAft>
                <a:spcPts val="0"/>
              </a:spcAft>
              <a:defRPr sz="1000" b="0" i="0">
                <a:solidFill>
                  <a:srgbClr val="A5B4CF"/>
                </a:solidFill>
                <a:latin typeface="Aptos"/>
              </a:defRPr>
            </a:pPr>
            <a:r>
              <a:rPr sz="1000" b="0" i="0">
                <a:solidFill>
                  <a:srgbClr val="A5B4CF"/>
                </a:solidFill>
                <a:latin typeface="Aptos"/>
              </a:rPr>
              <a:t>Retry only eligible failures; stop at the attempt limit.</a:t>
            </a:r>
          </a:p>
        </p:txBody>
      </p:sp>
      <p:sp>
        <p:nvSpPr>
          <p:cNvPr id="54" name="Rounded Rectangle 53"/>
          <p:cNvSpPr/>
          <p:nvPr/>
        </p:nvSpPr>
        <p:spPr>
          <a:xfrm>
            <a:off x="758952" y="5623560"/>
            <a:ext cx="10652760" cy="420624"/>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0120" y="5751576"/>
            <a:ext cx="10241280" cy="164592"/>
          </a:xfrm>
          <a:prstGeom prst="rect">
            <a:avLst/>
          </a:prstGeom>
          <a:noFill/>
        </p:spPr>
        <p:txBody>
          <a:bodyPr wrap="square" lIns="27432" rIns="27432" tIns="27432" bIns="27432" anchor="t">
            <a:spAutoFit/>
          </a:bodyPr>
          <a:lstStyle/>
          <a:p>
            <a:pPr algn="l">
              <a:spcAft>
                <a:spcPts val="0"/>
              </a:spcAft>
            </a:pPr>
            <a:r>
              <a:rPr sz="950" b="1" i="0">
                <a:solidFill>
                  <a:srgbClr val="3DE0D6"/>
                </a:solidFill>
                <a:latin typeface="Aptos"/>
              </a:rPr>
              <a:t>CLIENT CONTRACT  </a:t>
            </a:r>
            <a:r>
              <a:rPr sz="1050" b="1" i="0">
                <a:solidFill>
                  <a:srgbClr val="F4F7FF"/>
                </a:solidFill>
                <a:latin typeface="Aptos"/>
              </a:rPr>
              <a:t>POST returns a job ID; GET returns the current state. Acceptance is not completion.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03  /  ARCHITECTURE</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Use the database as the MVP queue; keep the system small.</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04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04</a:t>
            </a:r>
          </a:p>
        </p:txBody>
      </p:sp>
      <p:sp>
        <p:nvSpPr>
          <p:cNvPr id="10" name="Rounded Rectangle 9"/>
          <p:cNvSpPr/>
          <p:nvPr/>
        </p:nvSpPr>
        <p:spPr>
          <a:xfrm>
            <a:off x="713232" y="1883664"/>
            <a:ext cx="1874519" cy="1143000"/>
          </a:xfrm>
          <a:prstGeom prst="roundRect">
            <a:avLst/>
          </a:prstGeom>
          <a:solidFill>
            <a:srgbClr val="17243D"/>
          </a:solidFill>
          <a:ln w="10160">
            <a:solidFill>
              <a:srgbClr val="5D7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883664"/>
            <a:ext cx="1874519" cy="50292"/>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039112"/>
            <a:ext cx="1691639" cy="256032"/>
          </a:xfrm>
          <a:prstGeom prst="rect">
            <a:avLst/>
          </a:prstGeom>
          <a:noFill/>
        </p:spPr>
        <p:txBody>
          <a:bodyPr wrap="square" lIns="18288" rIns="18288" tIns="18288" bIns="18288" anchor="t">
            <a:spAutoFit/>
          </a:bodyPr>
          <a:lstStyle/>
          <a:p>
            <a:pPr algn="ctr">
              <a:spcAft>
                <a:spcPts val="0"/>
              </a:spcAft>
              <a:defRPr sz="1300" b="1" i="0">
                <a:solidFill>
                  <a:srgbClr val="F4F7FF"/>
                </a:solidFill>
                <a:latin typeface="Aptos"/>
              </a:defRPr>
            </a:pPr>
            <a:r>
              <a:rPr sz="1300" b="1" i="0">
                <a:solidFill>
                  <a:srgbClr val="F4F7FF"/>
                </a:solidFill>
                <a:latin typeface="Aptos"/>
              </a:rPr>
              <a:t>Web UI / client</a:t>
            </a:r>
          </a:p>
        </p:txBody>
      </p:sp>
      <p:sp>
        <p:nvSpPr>
          <p:cNvPr id="13" name="TextBox 12"/>
          <p:cNvSpPr txBox="1"/>
          <p:nvPr/>
        </p:nvSpPr>
        <p:spPr>
          <a:xfrm>
            <a:off x="804672" y="2368296"/>
            <a:ext cx="1691639" cy="585216"/>
          </a:xfrm>
          <a:prstGeom prst="rect">
            <a:avLst/>
          </a:prstGeom>
          <a:noFill/>
        </p:spPr>
        <p:txBody>
          <a:bodyPr wrap="square" lIns="18288" rIns="18288" tIns="18288" bIns="18288" anchor="t">
            <a:spAutoFit/>
          </a:bodyPr>
          <a:lstStyle/>
          <a:p>
            <a:pPr algn="ctr">
              <a:spcAft>
                <a:spcPts val="0"/>
              </a:spcAft>
              <a:defRPr sz="1000" b="0" i="0">
                <a:solidFill>
                  <a:srgbClr val="A5B4CF"/>
                </a:solidFill>
                <a:latin typeface="Aptos"/>
              </a:defRPr>
            </a:pPr>
            <a:r>
              <a:rPr sz="1000" b="0" i="0">
                <a:solidFill>
                  <a:srgbClr val="A5B4CF"/>
                </a:solidFill>
                <a:latin typeface="Aptos"/>
              </a:rPr>
              <a:t>Submit job
Read status</a:t>
            </a:r>
          </a:p>
        </p:txBody>
      </p:sp>
      <p:sp>
        <p:nvSpPr>
          <p:cNvPr id="14" name="Rounded Rectangle 13"/>
          <p:cNvSpPr/>
          <p:nvPr/>
        </p:nvSpPr>
        <p:spPr>
          <a:xfrm>
            <a:off x="3264408" y="1883664"/>
            <a:ext cx="2057400" cy="1143000"/>
          </a:xfrm>
          <a:prstGeom prst="roundRect">
            <a:avLst/>
          </a:prstGeom>
          <a:solidFill>
            <a:srgbClr val="17243D"/>
          </a:solidFill>
          <a:ln w="10160">
            <a:solidFill>
              <a:srgbClr val="3D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64408" y="1883664"/>
            <a:ext cx="2057400" cy="50292"/>
          </a:xfrm>
          <a:prstGeom prst="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2039112"/>
            <a:ext cx="1874519" cy="256032"/>
          </a:xfrm>
          <a:prstGeom prst="rect">
            <a:avLst/>
          </a:prstGeom>
          <a:noFill/>
        </p:spPr>
        <p:txBody>
          <a:bodyPr wrap="square" lIns="18288" rIns="18288" tIns="18288" bIns="18288" anchor="t">
            <a:spAutoFit/>
          </a:bodyPr>
          <a:lstStyle/>
          <a:p>
            <a:pPr algn="ctr">
              <a:spcAft>
                <a:spcPts val="0"/>
              </a:spcAft>
              <a:defRPr sz="1300" b="1" i="0">
                <a:solidFill>
                  <a:srgbClr val="F4F7FF"/>
                </a:solidFill>
                <a:latin typeface="Aptos"/>
              </a:defRPr>
            </a:pPr>
            <a:r>
              <a:rPr sz="1300" b="1" i="0">
                <a:solidFill>
                  <a:srgbClr val="F4F7FF"/>
                </a:solidFill>
                <a:latin typeface="Aptos"/>
              </a:rPr>
              <a:t>FastAPI service</a:t>
            </a:r>
          </a:p>
        </p:txBody>
      </p:sp>
      <p:sp>
        <p:nvSpPr>
          <p:cNvPr id="17" name="TextBox 16"/>
          <p:cNvSpPr txBox="1"/>
          <p:nvPr/>
        </p:nvSpPr>
        <p:spPr>
          <a:xfrm>
            <a:off x="3355848" y="2368296"/>
            <a:ext cx="1874519" cy="585216"/>
          </a:xfrm>
          <a:prstGeom prst="rect">
            <a:avLst/>
          </a:prstGeom>
          <a:noFill/>
        </p:spPr>
        <p:txBody>
          <a:bodyPr wrap="square" lIns="18288" rIns="18288" tIns="18288" bIns="18288" anchor="t">
            <a:spAutoFit/>
          </a:bodyPr>
          <a:lstStyle/>
          <a:p>
            <a:pPr algn="ctr">
              <a:spcAft>
                <a:spcPts val="0"/>
              </a:spcAft>
              <a:defRPr sz="1000" b="0" i="0">
                <a:solidFill>
                  <a:srgbClr val="A5B4CF"/>
                </a:solidFill>
                <a:latin typeface="Aptos"/>
              </a:defRPr>
            </a:pPr>
            <a:r>
              <a:rPr sz="1000" b="0" i="0">
                <a:solidFill>
                  <a:srgbClr val="A5B4CF"/>
                </a:solidFill>
                <a:latin typeface="Aptos"/>
              </a:rPr>
              <a:t>Validate + expose
job endpoints</a:t>
            </a:r>
          </a:p>
        </p:txBody>
      </p:sp>
      <p:sp>
        <p:nvSpPr>
          <p:cNvPr id="18" name="Rounded Rectangle 17"/>
          <p:cNvSpPr/>
          <p:nvPr/>
        </p:nvSpPr>
        <p:spPr>
          <a:xfrm>
            <a:off x="6080760" y="1645920"/>
            <a:ext cx="2331720" cy="1938528"/>
          </a:xfrm>
          <a:prstGeom prst="roundRect">
            <a:avLst/>
          </a:prstGeom>
          <a:solidFill>
            <a:srgbClr val="141C33"/>
          </a:solidFill>
          <a:ln w="10160">
            <a:solidFill>
              <a:srgbClr val="B0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37960" y="1920240"/>
            <a:ext cx="1417320" cy="393192"/>
          </a:xfrm>
          <a:prstGeom prst="ellipse">
            <a:avLst/>
          </a:prstGeom>
          <a:solidFill>
            <a:srgbClr val="1F2F4C"/>
          </a:solidFill>
          <a:ln w="15240">
            <a:solidFill>
              <a:srgbClr val="B0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37960" y="2103120"/>
            <a:ext cx="1417320" cy="658368"/>
          </a:xfrm>
          <a:prstGeom prst="rect">
            <a:avLst/>
          </a:prstGeom>
          <a:solidFill>
            <a:srgbClr val="1F2F4C"/>
          </a:solidFill>
          <a:ln w="10160">
            <a:solidFill>
              <a:srgbClr val="B0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37960" y="2587752"/>
            <a:ext cx="1417320" cy="393192"/>
          </a:xfrm>
          <a:prstGeom prst="ellipse">
            <a:avLst/>
          </a:prstGeom>
          <a:solidFill>
            <a:srgbClr val="1F2F4C"/>
          </a:solidFill>
          <a:ln w="15240">
            <a:solidFill>
              <a:srgbClr val="B0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0256" y="3154680"/>
            <a:ext cx="1261872" cy="173736"/>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JOBS TABLE</a:t>
            </a:r>
          </a:p>
        </p:txBody>
      </p:sp>
      <p:sp>
        <p:nvSpPr>
          <p:cNvPr id="23" name="TextBox 22"/>
          <p:cNvSpPr txBox="1"/>
          <p:nvPr/>
        </p:nvSpPr>
        <p:spPr>
          <a:xfrm>
            <a:off x="6254496" y="3364992"/>
            <a:ext cx="1984248" cy="164592"/>
          </a:xfrm>
          <a:prstGeom prst="rect">
            <a:avLst/>
          </a:prstGeom>
          <a:noFill/>
        </p:spPr>
        <p:txBody>
          <a:bodyPr wrap="square" lIns="18288" rIns="18288" tIns="18288" bIns="18288" anchor="t">
            <a:spAutoFit/>
          </a:bodyPr>
          <a:lstStyle/>
          <a:p>
            <a:pPr algn="ctr">
              <a:spcAft>
                <a:spcPts val="0"/>
              </a:spcAft>
              <a:defRPr sz="880" b="0" i="0">
                <a:solidFill>
                  <a:srgbClr val="A5B4CF"/>
                </a:solidFill>
                <a:latin typeface="Aptos"/>
              </a:defRPr>
            </a:pPr>
            <a:r>
              <a:rPr sz="880" b="0" i="0">
                <a:solidFill>
                  <a:srgbClr val="A5B4CF"/>
                </a:solidFill>
                <a:latin typeface="Aptos"/>
              </a:rPr>
              <a:t>Durable queue + status</a:t>
            </a:r>
          </a:p>
        </p:txBody>
      </p:sp>
      <p:sp>
        <p:nvSpPr>
          <p:cNvPr id="24" name="Rounded Rectangle 23"/>
          <p:cNvSpPr/>
          <p:nvPr/>
        </p:nvSpPr>
        <p:spPr>
          <a:xfrm>
            <a:off x="9189720" y="1883664"/>
            <a:ext cx="2148840" cy="1143000"/>
          </a:xfrm>
          <a:prstGeom prst="roundRect">
            <a:avLst/>
          </a:prstGeom>
          <a:solidFill>
            <a:srgbClr val="17243D"/>
          </a:solidFill>
          <a:ln w="10160">
            <a:solidFill>
              <a:srgbClr val="FFC2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1883664"/>
            <a:ext cx="2148840" cy="50292"/>
          </a:xfrm>
          <a:prstGeom prst="rect">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60" y="2039112"/>
            <a:ext cx="1965960" cy="256032"/>
          </a:xfrm>
          <a:prstGeom prst="rect">
            <a:avLst/>
          </a:prstGeom>
          <a:noFill/>
        </p:spPr>
        <p:txBody>
          <a:bodyPr wrap="square" lIns="18288" rIns="18288" tIns="18288" bIns="18288" anchor="t">
            <a:spAutoFit/>
          </a:bodyPr>
          <a:lstStyle/>
          <a:p>
            <a:pPr algn="ctr">
              <a:spcAft>
                <a:spcPts val="0"/>
              </a:spcAft>
              <a:defRPr sz="1300" b="1" i="0">
                <a:solidFill>
                  <a:srgbClr val="F4F7FF"/>
                </a:solidFill>
                <a:latin typeface="Aptos"/>
              </a:defRPr>
            </a:pPr>
            <a:r>
              <a:rPr sz="1300" b="1" i="0">
                <a:solidFill>
                  <a:srgbClr val="F4F7FF"/>
                </a:solidFill>
                <a:latin typeface="Aptos"/>
              </a:rPr>
              <a:t>Worker process</a:t>
            </a:r>
          </a:p>
        </p:txBody>
      </p:sp>
      <p:sp>
        <p:nvSpPr>
          <p:cNvPr id="27" name="TextBox 26"/>
          <p:cNvSpPr txBox="1"/>
          <p:nvPr/>
        </p:nvSpPr>
        <p:spPr>
          <a:xfrm>
            <a:off x="9281160" y="2368296"/>
            <a:ext cx="1965960" cy="585216"/>
          </a:xfrm>
          <a:prstGeom prst="rect">
            <a:avLst/>
          </a:prstGeom>
          <a:noFill/>
        </p:spPr>
        <p:txBody>
          <a:bodyPr wrap="square" lIns="18288" rIns="18288" tIns="18288" bIns="18288" anchor="t">
            <a:spAutoFit/>
          </a:bodyPr>
          <a:lstStyle/>
          <a:p>
            <a:pPr algn="ctr">
              <a:spcAft>
                <a:spcPts val="0"/>
              </a:spcAft>
              <a:defRPr sz="1000" b="0" i="0">
                <a:solidFill>
                  <a:srgbClr val="A5B4CF"/>
                </a:solidFill>
                <a:latin typeface="Aptos"/>
              </a:defRPr>
            </a:pPr>
            <a:r>
              <a:rPr sz="1000" b="0" i="0">
                <a:solidFill>
                  <a:srgbClr val="A5B4CF"/>
                </a:solidFill>
                <a:latin typeface="Aptos"/>
              </a:rPr>
              <a:t>Poll + atomically
claim + execute</a:t>
            </a:r>
          </a:p>
        </p:txBody>
      </p:sp>
      <p:cxnSp>
        <p:nvCxnSpPr>
          <p:cNvPr id="28" name="Connector 27"/>
          <p:cNvCxnSpPr/>
          <p:nvPr/>
        </p:nvCxnSpPr>
        <p:spPr>
          <a:xfrm>
            <a:off x="2606040" y="2331720"/>
            <a:ext cx="576072" cy="0"/>
          </a:xfrm>
          <a:prstGeom prst="line">
            <a:avLst/>
          </a:prstGeom>
          <a:ln w="22860">
            <a:solidFill>
              <a:srgbClr val="3DE0D6"/>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3118104" y="2267712"/>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5340096" y="2212848"/>
            <a:ext cx="658368" cy="0"/>
          </a:xfrm>
          <a:prstGeom prst="line">
            <a:avLst/>
          </a:prstGeom>
          <a:ln w="20320">
            <a:solidFill>
              <a:srgbClr val="3DE0D6"/>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5400000">
            <a:off x="5934455" y="2148840"/>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5340096" y="2542032"/>
            <a:ext cx="658368" cy="0"/>
          </a:xfrm>
          <a:prstGeom prst="line">
            <a:avLst/>
          </a:prstGeom>
          <a:ln w="17780">
            <a:solidFill>
              <a:srgbClr val="B08BFF"/>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16200000">
            <a:off x="5276088" y="2478024"/>
            <a:ext cx="128016" cy="128016"/>
          </a:xfrm>
          <a:prstGeom prst="triangl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430768" y="2212848"/>
            <a:ext cx="676656" cy="0"/>
          </a:xfrm>
          <a:prstGeom prst="line">
            <a:avLst/>
          </a:prstGeom>
          <a:ln w="20320">
            <a:solidFill>
              <a:srgbClr val="FFC25E"/>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9043416" y="2148840"/>
            <a:ext cx="128016" cy="128016"/>
          </a:xfrm>
          <a:prstGeom prst="triangl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8458200" y="2542032"/>
            <a:ext cx="685800" cy="0"/>
          </a:xfrm>
          <a:prstGeom prst="line">
            <a:avLst/>
          </a:prstGeom>
          <a:ln w="17780">
            <a:solidFill>
              <a:srgbClr val="6BE6AF"/>
            </a:solidFill>
          </a:ln>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rot="16200000">
            <a:off x="8394192" y="2478024"/>
            <a:ext cx="128016" cy="128016"/>
          </a:xfrm>
          <a:prstGeom prst="triangl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377440" y="3730752"/>
            <a:ext cx="7406640" cy="438912"/>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78608" y="3867912"/>
            <a:ext cx="6995160" cy="146304"/>
          </a:xfrm>
          <a:prstGeom prst="rect">
            <a:avLst/>
          </a:prstGeom>
          <a:noFill/>
        </p:spPr>
        <p:txBody>
          <a:bodyPr wrap="square" lIns="27432" rIns="27432" tIns="27432" bIns="27432" anchor="t">
            <a:spAutoFit/>
          </a:bodyPr>
          <a:lstStyle/>
          <a:p>
            <a:pPr algn="l">
              <a:spcAft>
                <a:spcPts val="0"/>
              </a:spcAft>
            </a:pPr>
            <a:r>
              <a:rPr sz="900" b="1" i="0">
                <a:solidFill>
                  <a:srgbClr val="6BE6AF"/>
                </a:solidFill>
                <a:latin typeface="Aptos"/>
              </a:rPr>
              <a:t>WORKER WRITES </a:t>
            </a:r>
            <a:r>
              <a:rPr sz="900" b="0" i="0">
                <a:solidFill>
                  <a:srgbClr val="F4F7FF"/>
                </a:solidFill>
                <a:latin typeface="Aptos"/>
              </a:rPr>
              <a:t>status / attempts / result</a:t>
            </a:r>
            <a:r>
              <a:rPr sz="900" b="0" i="0">
                <a:solidFill>
                  <a:srgbClr val="778BAD"/>
                </a:solidFill>
                <a:latin typeface="Aptos"/>
              </a:rPr>
              <a:t>     •     </a:t>
            </a:r>
            <a:r>
              <a:rPr sz="900" b="1" i="0">
                <a:solidFill>
                  <a:srgbClr val="B08BFF"/>
                </a:solidFill>
                <a:latin typeface="Aptos"/>
              </a:rPr>
              <a:t>API READS </a:t>
            </a:r>
            <a:r>
              <a:rPr sz="900" b="0" i="0">
                <a:solidFill>
                  <a:srgbClr val="F4F7FF"/>
                </a:solidFill>
                <a:latin typeface="Aptos"/>
              </a:rPr>
              <a:t>current job status</a:t>
            </a:r>
          </a:p>
        </p:txBody>
      </p:sp>
      <p:sp>
        <p:nvSpPr>
          <p:cNvPr id="40" name="Rounded Rectangle 39"/>
          <p:cNvSpPr/>
          <p:nvPr/>
        </p:nvSpPr>
        <p:spPr>
          <a:xfrm>
            <a:off x="731520" y="4709160"/>
            <a:ext cx="10643616" cy="1051560"/>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9264" y="4937760"/>
            <a:ext cx="22860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WHY THIS FITS THE MVP</a:t>
            </a:r>
          </a:p>
        </p:txBody>
      </p:sp>
      <p:sp>
        <p:nvSpPr>
          <p:cNvPr id="42" name="Oval 41"/>
          <p:cNvSpPr/>
          <p:nvPr/>
        </p:nvSpPr>
        <p:spPr>
          <a:xfrm>
            <a:off x="3017520" y="4965192"/>
            <a:ext cx="155448" cy="155448"/>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73552" y="4919472"/>
            <a:ext cx="1645920"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Fewer services</a:t>
            </a:r>
          </a:p>
        </p:txBody>
      </p:sp>
      <p:sp>
        <p:nvSpPr>
          <p:cNvPr id="44" name="TextBox 43"/>
          <p:cNvSpPr txBox="1"/>
          <p:nvPr/>
        </p:nvSpPr>
        <p:spPr>
          <a:xfrm>
            <a:off x="3273552" y="5202936"/>
            <a:ext cx="2057400" cy="320040"/>
          </a:xfrm>
          <a:prstGeom prst="rect">
            <a:avLst/>
          </a:prstGeom>
          <a:noFill/>
        </p:spPr>
        <p:txBody>
          <a:bodyPr wrap="square" lIns="18288" rIns="18288" tIns="18288" bIns="18288" anchor="t">
            <a:spAutoFit/>
          </a:bodyPr>
          <a:lstStyle/>
          <a:p>
            <a:pPr algn="l">
              <a:spcAft>
                <a:spcPts val="0"/>
              </a:spcAft>
              <a:defRPr sz="869" b="0" i="0">
                <a:solidFill>
                  <a:srgbClr val="A5B4CF"/>
                </a:solidFill>
                <a:latin typeface="Aptos"/>
              </a:defRPr>
            </a:pPr>
            <a:r>
              <a:rPr sz="869" b="0" i="0">
                <a:solidFill>
                  <a:srgbClr val="A5B4CF"/>
                </a:solidFill>
                <a:latin typeface="Aptos"/>
              </a:rPr>
              <a:t>No separate broker required initially</a:t>
            </a:r>
          </a:p>
        </p:txBody>
      </p:sp>
      <p:sp>
        <p:nvSpPr>
          <p:cNvPr id="45" name="Oval 44"/>
          <p:cNvSpPr/>
          <p:nvPr/>
        </p:nvSpPr>
        <p:spPr>
          <a:xfrm>
            <a:off x="5806440" y="4965192"/>
            <a:ext cx="155448" cy="155448"/>
          </a:xfrm>
          <a:prstGeom prst="ellips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62472" y="4919472"/>
            <a:ext cx="1645920"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Clear ownership</a:t>
            </a:r>
          </a:p>
        </p:txBody>
      </p:sp>
      <p:sp>
        <p:nvSpPr>
          <p:cNvPr id="47" name="TextBox 46"/>
          <p:cNvSpPr txBox="1"/>
          <p:nvPr/>
        </p:nvSpPr>
        <p:spPr>
          <a:xfrm>
            <a:off x="6062472" y="5202936"/>
            <a:ext cx="2057400" cy="320040"/>
          </a:xfrm>
          <a:prstGeom prst="rect">
            <a:avLst/>
          </a:prstGeom>
          <a:noFill/>
        </p:spPr>
        <p:txBody>
          <a:bodyPr wrap="square" lIns="18288" rIns="18288" tIns="18288" bIns="18288" anchor="t">
            <a:spAutoFit/>
          </a:bodyPr>
          <a:lstStyle/>
          <a:p>
            <a:pPr algn="l">
              <a:spcAft>
                <a:spcPts val="0"/>
              </a:spcAft>
              <a:defRPr sz="869" b="0" i="0">
                <a:solidFill>
                  <a:srgbClr val="A5B4CF"/>
                </a:solidFill>
                <a:latin typeface="Aptos"/>
              </a:defRPr>
            </a:pPr>
            <a:r>
              <a:rPr sz="869" b="0" i="0">
                <a:solidFill>
                  <a:srgbClr val="A5B4CF"/>
                </a:solidFill>
                <a:latin typeface="Aptos"/>
              </a:rPr>
              <a:t>DB stores state and attempts</a:t>
            </a:r>
          </a:p>
        </p:txBody>
      </p:sp>
      <p:sp>
        <p:nvSpPr>
          <p:cNvPr id="48" name="Oval 47"/>
          <p:cNvSpPr/>
          <p:nvPr/>
        </p:nvSpPr>
        <p:spPr>
          <a:xfrm>
            <a:off x="8549640" y="4965192"/>
            <a:ext cx="155448" cy="155448"/>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05672" y="4919472"/>
            <a:ext cx="1645920" cy="201168"/>
          </a:xfrm>
          <a:prstGeom prst="rect">
            <a:avLst/>
          </a:prstGeom>
          <a:noFill/>
        </p:spPr>
        <p:txBody>
          <a:bodyPr wrap="square" lIns="18288" rIns="18288" tIns="18288" bIns="18288" anchor="t">
            <a:spAutoFit/>
          </a:bodyPr>
          <a:lstStyle/>
          <a:p>
            <a:pPr algn="l">
              <a:spcAft>
                <a:spcPts val="0"/>
              </a:spcAft>
              <a:defRPr sz="1100" b="1" i="0">
                <a:solidFill>
                  <a:srgbClr val="F4F7FF"/>
                </a:solidFill>
                <a:latin typeface="Aptos"/>
              </a:defRPr>
            </a:pPr>
            <a:r>
              <a:rPr sz="1100" b="1" i="0">
                <a:solidFill>
                  <a:srgbClr val="F4F7FF"/>
                </a:solidFill>
                <a:latin typeface="Aptos"/>
              </a:rPr>
              <a:t>Easy to demo</a:t>
            </a:r>
          </a:p>
        </p:txBody>
      </p:sp>
      <p:sp>
        <p:nvSpPr>
          <p:cNvPr id="50" name="TextBox 49"/>
          <p:cNvSpPr txBox="1"/>
          <p:nvPr/>
        </p:nvSpPr>
        <p:spPr>
          <a:xfrm>
            <a:off x="8805672" y="5202936"/>
            <a:ext cx="2057400" cy="320040"/>
          </a:xfrm>
          <a:prstGeom prst="rect">
            <a:avLst/>
          </a:prstGeom>
          <a:noFill/>
        </p:spPr>
        <p:txBody>
          <a:bodyPr wrap="square" lIns="18288" rIns="18288" tIns="18288" bIns="18288" anchor="t">
            <a:spAutoFit/>
          </a:bodyPr>
          <a:lstStyle/>
          <a:p>
            <a:pPr algn="l">
              <a:spcAft>
                <a:spcPts val="0"/>
              </a:spcAft>
              <a:defRPr sz="869" b="0" i="0">
                <a:solidFill>
                  <a:srgbClr val="A5B4CF"/>
                </a:solidFill>
                <a:latin typeface="Aptos"/>
              </a:defRPr>
            </a:pPr>
            <a:r>
              <a:rPr sz="869" b="0" i="0">
                <a:solidFill>
                  <a:srgbClr val="A5B4CF"/>
                </a:solidFill>
                <a:latin typeface="Aptos"/>
              </a:rPr>
              <a:t>One request + one worker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04  /  API CONTRACT</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Make the happy path small and the job record useful.</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05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05</a:t>
            </a:r>
          </a:p>
        </p:txBody>
      </p:sp>
      <p:sp>
        <p:nvSpPr>
          <p:cNvPr id="10" name="Rounded Rectangle 9"/>
          <p:cNvSpPr/>
          <p:nvPr/>
        </p:nvSpPr>
        <p:spPr>
          <a:xfrm>
            <a:off x="713232" y="1664208"/>
            <a:ext cx="5120640" cy="2423160"/>
          </a:xfrm>
          <a:prstGeom prst="roundRect">
            <a:avLst/>
          </a:prstGeom>
          <a:solidFill>
            <a:srgbClr val="070D1A"/>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664208"/>
            <a:ext cx="5120640" cy="384048"/>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7824" y="1801368"/>
            <a:ext cx="68580" cy="68580"/>
          </a:xfrm>
          <a:prstGeom prst="ellips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42415" y="1801368"/>
            <a:ext cx="68580" cy="68580"/>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07007" y="1801368"/>
            <a:ext cx="68580" cy="68580"/>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72184" y="1773936"/>
            <a:ext cx="4206240" cy="173736"/>
          </a:xfrm>
          <a:prstGeom prst="rect">
            <a:avLst/>
          </a:prstGeom>
          <a:noFill/>
        </p:spPr>
        <p:txBody>
          <a:bodyPr wrap="square" lIns="18288" rIns="18288" tIns="18288" bIns="18288" anchor="t">
            <a:spAutoFit/>
          </a:bodyPr>
          <a:lstStyle/>
          <a:p>
            <a:pPr algn="l">
              <a:spcAft>
                <a:spcPts val="0"/>
              </a:spcAft>
              <a:defRPr sz="900" b="1" i="0">
                <a:solidFill>
                  <a:srgbClr val="A5B4CF"/>
                </a:solidFill>
                <a:latin typeface="Aptos"/>
              </a:defRPr>
            </a:pPr>
            <a:r>
              <a:rPr sz="900" b="1" i="0">
                <a:solidFill>
                  <a:srgbClr val="A5B4CF"/>
                </a:solidFill>
                <a:latin typeface="Aptos"/>
              </a:rPr>
              <a:t>POST /jobs  •  request / accepted response</a:t>
            </a:r>
          </a:p>
        </p:txBody>
      </p:sp>
      <p:sp>
        <p:nvSpPr>
          <p:cNvPr id="16" name="TextBox 15"/>
          <p:cNvSpPr txBox="1"/>
          <p:nvPr/>
        </p:nvSpPr>
        <p:spPr>
          <a:xfrm>
            <a:off x="877824" y="2194560"/>
            <a:ext cx="4809744" cy="1801367"/>
          </a:xfrm>
          <a:prstGeom prst="rect">
            <a:avLst/>
          </a:prstGeom>
          <a:noFill/>
        </p:spPr>
        <p:txBody>
          <a:bodyPr wrap="square" lIns="18288" rIns="18288" tIns="18288" bIns="18288" anchor="t">
            <a:spAutoFit/>
          </a:bodyPr>
          <a:lstStyle/>
          <a:p>
            <a:pPr algn="l">
              <a:spcAft>
                <a:spcPts val="0"/>
              </a:spcAft>
              <a:defRPr sz="1050" b="0" i="0">
                <a:solidFill>
                  <a:srgbClr val="F4F7FF"/>
                </a:solidFill>
                <a:latin typeface="Cascadia Code"/>
              </a:defRPr>
            </a:pPr>
            <a:r>
              <a:rPr sz="1050" b="0" i="0">
                <a:solidFill>
                  <a:srgbClr val="F4F7FF"/>
                </a:solidFill>
                <a:latin typeface="Cascadia Code"/>
              </a:rPr>
              <a:t>POST /jobs
{
  "type": "demo_report",
  "payload": {"duration_seconds": 3}
}
202 Accepted
{"id": "job_abc123", "status": "queued"}</a:t>
            </a:r>
          </a:p>
        </p:txBody>
      </p:sp>
      <p:sp>
        <p:nvSpPr>
          <p:cNvPr id="17" name="Rounded Rectangle 16"/>
          <p:cNvSpPr/>
          <p:nvPr/>
        </p:nvSpPr>
        <p:spPr>
          <a:xfrm>
            <a:off x="713232" y="4315968"/>
            <a:ext cx="5120640" cy="1417320"/>
          </a:xfrm>
          <a:prstGeom prst="roundRect">
            <a:avLst/>
          </a:prstGeom>
          <a:solidFill>
            <a:srgbClr val="070D1A"/>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4315968"/>
            <a:ext cx="5120640" cy="384048"/>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77824" y="4453128"/>
            <a:ext cx="68580" cy="68580"/>
          </a:xfrm>
          <a:prstGeom prst="ellips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2415" y="4453128"/>
            <a:ext cx="68580" cy="68580"/>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07007" y="4453128"/>
            <a:ext cx="68580" cy="68580"/>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72184" y="4425696"/>
            <a:ext cx="4206240" cy="173736"/>
          </a:xfrm>
          <a:prstGeom prst="rect">
            <a:avLst/>
          </a:prstGeom>
          <a:noFill/>
        </p:spPr>
        <p:txBody>
          <a:bodyPr wrap="square" lIns="18288" rIns="18288" tIns="18288" bIns="18288" anchor="t">
            <a:spAutoFit/>
          </a:bodyPr>
          <a:lstStyle/>
          <a:p>
            <a:pPr algn="l">
              <a:spcAft>
                <a:spcPts val="0"/>
              </a:spcAft>
              <a:defRPr sz="900" b="1" i="0">
                <a:solidFill>
                  <a:srgbClr val="A5B4CF"/>
                </a:solidFill>
                <a:latin typeface="Aptos"/>
              </a:defRPr>
            </a:pPr>
            <a:r>
              <a:rPr sz="900" b="1" i="0">
                <a:solidFill>
                  <a:srgbClr val="A5B4CF"/>
                </a:solidFill>
                <a:latin typeface="Aptos"/>
              </a:rPr>
              <a:t>GET /jobs/job_abc123  •  status lookup</a:t>
            </a:r>
          </a:p>
        </p:txBody>
      </p:sp>
      <p:sp>
        <p:nvSpPr>
          <p:cNvPr id="23" name="TextBox 22"/>
          <p:cNvSpPr txBox="1"/>
          <p:nvPr/>
        </p:nvSpPr>
        <p:spPr>
          <a:xfrm>
            <a:off x="877824" y="4846320"/>
            <a:ext cx="4809744" cy="795528"/>
          </a:xfrm>
          <a:prstGeom prst="rect">
            <a:avLst/>
          </a:prstGeom>
          <a:noFill/>
        </p:spPr>
        <p:txBody>
          <a:bodyPr wrap="square" lIns="18288" rIns="18288" tIns="18288" bIns="18288" anchor="t">
            <a:spAutoFit/>
          </a:bodyPr>
          <a:lstStyle/>
          <a:p>
            <a:pPr algn="l">
              <a:spcAft>
                <a:spcPts val="0"/>
              </a:spcAft>
              <a:defRPr sz="950" b="0" i="0">
                <a:solidFill>
                  <a:srgbClr val="F4F7FF"/>
                </a:solidFill>
                <a:latin typeface="Cascadia Code"/>
              </a:defRPr>
            </a:pPr>
            <a:r>
              <a:rPr sz="950" b="0" i="0">
                <a:solidFill>
                  <a:srgbClr val="F4F7FF"/>
                </a:solidFill>
                <a:latin typeface="Cascadia Code"/>
              </a:rPr>
              <a:t>{
  "id": "job_abc123",
  "status": "succeeded",
  "attempt_count": 1,
  "result": {"rows": 42}
}</a:t>
            </a:r>
          </a:p>
        </p:txBody>
      </p:sp>
      <p:sp>
        <p:nvSpPr>
          <p:cNvPr id="24" name="Rounded Rectangle 23"/>
          <p:cNvSpPr/>
          <p:nvPr/>
        </p:nvSpPr>
        <p:spPr>
          <a:xfrm>
            <a:off x="6172200" y="1664208"/>
            <a:ext cx="5285232" cy="4069080"/>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1911095"/>
            <a:ext cx="256032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MINIMUM JOB RECORD</a:t>
            </a:r>
          </a:p>
        </p:txBody>
      </p:sp>
      <p:sp>
        <p:nvSpPr>
          <p:cNvPr id="26" name="Rounded Rectangle 25"/>
          <p:cNvSpPr/>
          <p:nvPr/>
        </p:nvSpPr>
        <p:spPr>
          <a:xfrm>
            <a:off x="6419088" y="2267712"/>
            <a:ext cx="4773168" cy="338328"/>
          </a:xfrm>
          <a:prstGeom prst="roundRect">
            <a:avLst/>
          </a:prstGeom>
          <a:solidFill>
            <a:srgbClr val="1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2368296"/>
            <a:ext cx="1417320" cy="118872"/>
          </a:xfrm>
          <a:prstGeom prst="rect">
            <a:avLst/>
          </a:prstGeom>
          <a:noFill/>
        </p:spPr>
        <p:txBody>
          <a:bodyPr wrap="square" lIns="18288" rIns="18288" tIns="18288" bIns="18288" anchor="t">
            <a:spAutoFit/>
          </a:bodyPr>
          <a:lstStyle/>
          <a:p>
            <a:pPr algn="l">
              <a:spcAft>
                <a:spcPts val="0"/>
              </a:spcAft>
              <a:defRPr sz="850" b="1" i="0">
                <a:solidFill>
                  <a:srgbClr val="A5B4CF"/>
                </a:solidFill>
                <a:latin typeface="Aptos"/>
              </a:defRPr>
            </a:pPr>
            <a:r>
              <a:rPr sz="850" b="1" i="0">
                <a:solidFill>
                  <a:srgbClr val="A5B4CF"/>
                </a:solidFill>
                <a:latin typeface="Aptos"/>
              </a:rPr>
              <a:t>FIELD</a:t>
            </a:r>
          </a:p>
        </p:txBody>
      </p:sp>
      <p:sp>
        <p:nvSpPr>
          <p:cNvPr id="28" name="TextBox 27"/>
          <p:cNvSpPr txBox="1"/>
          <p:nvPr/>
        </p:nvSpPr>
        <p:spPr>
          <a:xfrm>
            <a:off x="8229600" y="2368296"/>
            <a:ext cx="2560320" cy="118872"/>
          </a:xfrm>
          <a:prstGeom prst="rect">
            <a:avLst/>
          </a:prstGeom>
          <a:noFill/>
        </p:spPr>
        <p:txBody>
          <a:bodyPr wrap="square" lIns="18288" rIns="18288" tIns="18288" bIns="18288" anchor="t">
            <a:spAutoFit/>
          </a:bodyPr>
          <a:lstStyle/>
          <a:p>
            <a:pPr algn="l">
              <a:spcAft>
                <a:spcPts val="0"/>
              </a:spcAft>
              <a:defRPr sz="850" b="1" i="0">
                <a:solidFill>
                  <a:srgbClr val="A5B4CF"/>
                </a:solidFill>
                <a:latin typeface="Aptos"/>
              </a:defRPr>
            </a:pPr>
            <a:r>
              <a:rPr sz="850" b="1" i="0">
                <a:solidFill>
                  <a:srgbClr val="A5B4CF"/>
                </a:solidFill>
                <a:latin typeface="Aptos"/>
              </a:rPr>
              <a:t>PURPOSE</a:t>
            </a:r>
          </a:p>
        </p:txBody>
      </p:sp>
      <p:sp>
        <p:nvSpPr>
          <p:cNvPr id="29" name="Rounded Rectangle 28"/>
          <p:cNvSpPr/>
          <p:nvPr/>
        </p:nvSpPr>
        <p:spPr>
          <a:xfrm>
            <a:off x="6428232" y="2670048"/>
            <a:ext cx="4754880" cy="33832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2724912"/>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id</a:t>
            </a:r>
          </a:p>
        </p:txBody>
      </p:sp>
      <p:sp>
        <p:nvSpPr>
          <p:cNvPr id="31" name="TextBox 30"/>
          <p:cNvSpPr txBox="1"/>
          <p:nvPr/>
        </p:nvSpPr>
        <p:spPr>
          <a:xfrm>
            <a:off x="8229600" y="2724912"/>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Stable job identifier</a:t>
            </a:r>
          </a:p>
        </p:txBody>
      </p:sp>
      <p:sp>
        <p:nvSpPr>
          <p:cNvPr id="32" name="TextBox 31"/>
          <p:cNvSpPr txBox="1"/>
          <p:nvPr/>
        </p:nvSpPr>
        <p:spPr>
          <a:xfrm>
            <a:off x="6583680" y="3118104"/>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type / payload</a:t>
            </a:r>
          </a:p>
        </p:txBody>
      </p:sp>
      <p:sp>
        <p:nvSpPr>
          <p:cNvPr id="33" name="TextBox 32"/>
          <p:cNvSpPr txBox="1"/>
          <p:nvPr/>
        </p:nvSpPr>
        <p:spPr>
          <a:xfrm>
            <a:off x="8229600" y="3118104"/>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Allowed task type + input</a:t>
            </a:r>
          </a:p>
        </p:txBody>
      </p:sp>
      <p:sp>
        <p:nvSpPr>
          <p:cNvPr id="34" name="Rounded Rectangle 33"/>
          <p:cNvSpPr/>
          <p:nvPr/>
        </p:nvSpPr>
        <p:spPr>
          <a:xfrm>
            <a:off x="6428232" y="3456432"/>
            <a:ext cx="4754880" cy="33832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511296"/>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status</a:t>
            </a:r>
          </a:p>
        </p:txBody>
      </p:sp>
      <p:sp>
        <p:nvSpPr>
          <p:cNvPr id="36" name="TextBox 35"/>
          <p:cNvSpPr txBox="1"/>
          <p:nvPr/>
        </p:nvSpPr>
        <p:spPr>
          <a:xfrm>
            <a:off x="8229600" y="3511296"/>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queued / running / succeeded / failed</a:t>
            </a:r>
          </a:p>
        </p:txBody>
      </p:sp>
      <p:sp>
        <p:nvSpPr>
          <p:cNvPr id="37" name="TextBox 36"/>
          <p:cNvSpPr txBox="1"/>
          <p:nvPr/>
        </p:nvSpPr>
        <p:spPr>
          <a:xfrm>
            <a:off x="6583680" y="3904488"/>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attempt_count</a:t>
            </a:r>
          </a:p>
        </p:txBody>
      </p:sp>
      <p:sp>
        <p:nvSpPr>
          <p:cNvPr id="38" name="TextBox 37"/>
          <p:cNvSpPr txBox="1"/>
          <p:nvPr/>
        </p:nvSpPr>
        <p:spPr>
          <a:xfrm>
            <a:off x="8229600" y="3904488"/>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Used / max configured attempts</a:t>
            </a:r>
          </a:p>
        </p:txBody>
      </p:sp>
      <p:sp>
        <p:nvSpPr>
          <p:cNvPr id="39" name="Rounded Rectangle 38"/>
          <p:cNvSpPr/>
          <p:nvPr/>
        </p:nvSpPr>
        <p:spPr>
          <a:xfrm>
            <a:off x="6428232" y="4242816"/>
            <a:ext cx="4754880" cy="33832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4297680"/>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created_at / updated_at</a:t>
            </a:r>
          </a:p>
        </p:txBody>
      </p:sp>
      <p:sp>
        <p:nvSpPr>
          <p:cNvPr id="41" name="TextBox 40"/>
          <p:cNvSpPr txBox="1"/>
          <p:nvPr/>
        </p:nvSpPr>
        <p:spPr>
          <a:xfrm>
            <a:off x="8229600" y="4297680"/>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Audit the lifecycle</a:t>
            </a:r>
          </a:p>
        </p:txBody>
      </p:sp>
      <p:sp>
        <p:nvSpPr>
          <p:cNvPr id="42" name="TextBox 41"/>
          <p:cNvSpPr txBox="1"/>
          <p:nvPr/>
        </p:nvSpPr>
        <p:spPr>
          <a:xfrm>
            <a:off x="6583680" y="4690872"/>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result / last_error</a:t>
            </a:r>
          </a:p>
        </p:txBody>
      </p:sp>
      <p:sp>
        <p:nvSpPr>
          <p:cNvPr id="43" name="TextBox 42"/>
          <p:cNvSpPr txBox="1"/>
          <p:nvPr/>
        </p:nvSpPr>
        <p:spPr>
          <a:xfrm>
            <a:off x="8229600" y="4690872"/>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Outcome or sanitized failure</a:t>
            </a:r>
          </a:p>
        </p:txBody>
      </p:sp>
      <p:sp>
        <p:nvSpPr>
          <p:cNvPr id="44" name="Rounded Rectangle 43"/>
          <p:cNvSpPr/>
          <p:nvPr/>
        </p:nvSpPr>
        <p:spPr>
          <a:xfrm>
            <a:off x="6428232" y="5029200"/>
            <a:ext cx="4754880" cy="33832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5084064"/>
            <a:ext cx="1627632" cy="173736"/>
          </a:xfrm>
          <a:prstGeom prst="rect">
            <a:avLst/>
          </a:prstGeom>
          <a:noFill/>
        </p:spPr>
        <p:txBody>
          <a:bodyPr wrap="square" lIns="18288" rIns="18288" tIns="18288" bIns="18288" anchor="t">
            <a:spAutoFit/>
          </a:bodyPr>
          <a:lstStyle/>
          <a:p>
            <a:pPr algn="l">
              <a:spcAft>
                <a:spcPts val="0"/>
              </a:spcAft>
              <a:defRPr sz="940" b="1" i="0">
                <a:solidFill>
                  <a:srgbClr val="F4F7FF"/>
                </a:solidFill>
                <a:latin typeface="Cascadia Code"/>
              </a:defRPr>
            </a:pPr>
            <a:r>
              <a:rPr sz="940" b="1" i="0">
                <a:solidFill>
                  <a:srgbClr val="F4F7FF"/>
                </a:solidFill>
                <a:latin typeface="Cascadia Code"/>
              </a:rPr>
              <a:t>next_attempt_at</a:t>
            </a:r>
          </a:p>
        </p:txBody>
      </p:sp>
      <p:sp>
        <p:nvSpPr>
          <p:cNvPr id="46" name="TextBox 45"/>
          <p:cNvSpPr txBox="1"/>
          <p:nvPr/>
        </p:nvSpPr>
        <p:spPr>
          <a:xfrm>
            <a:off x="8229600" y="5084064"/>
            <a:ext cx="2761488" cy="219456"/>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When an eligible retry may run</a:t>
            </a:r>
          </a:p>
        </p:txBody>
      </p:sp>
      <p:sp>
        <p:nvSpPr>
          <p:cNvPr id="47" name="Rounded Rectangle 46"/>
          <p:cNvSpPr/>
          <p:nvPr/>
        </p:nvSpPr>
        <p:spPr>
          <a:xfrm>
            <a:off x="6190488" y="5888736"/>
            <a:ext cx="5266944" cy="329184"/>
          </a:xfrm>
          <a:prstGeom prst="roundRect">
            <a:avLst/>
          </a:prstGeom>
          <a:solidFill>
            <a:srgbClr val="182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5980176"/>
            <a:ext cx="4892040" cy="128016"/>
          </a:xfrm>
          <a:prstGeom prst="rect">
            <a:avLst/>
          </a:prstGeom>
          <a:noFill/>
        </p:spPr>
        <p:txBody>
          <a:bodyPr wrap="square" lIns="18288" rIns="18288" tIns="18288" bIns="18288" anchor="t">
            <a:spAutoFit/>
          </a:bodyPr>
          <a:lstStyle/>
          <a:p>
            <a:pPr algn="ctr">
              <a:spcAft>
                <a:spcPts val="0"/>
              </a:spcAft>
              <a:defRPr sz="900" b="1" i="0">
                <a:solidFill>
                  <a:srgbClr val="3DE0D6"/>
                </a:solidFill>
                <a:latin typeface="Aptos"/>
              </a:defRPr>
            </a:pPr>
            <a:r>
              <a:rPr sz="900" b="1" i="0">
                <a:solidFill>
                  <a:srgbClr val="3DE0D6"/>
                </a:solidFill>
                <a:latin typeface="Aptos"/>
              </a:rPr>
              <a:t>Also expose: GET /jobs • GET /health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05  /  FAILURE HANDLING</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Retries must be bounded, visible, and safe.</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06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06</a:t>
            </a:r>
          </a:p>
        </p:txBody>
      </p:sp>
      <p:sp>
        <p:nvSpPr>
          <p:cNvPr id="10" name="Rounded Rectangle 9"/>
          <p:cNvSpPr/>
          <p:nvPr/>
        </p:nvSpPr>
        <p:spPr>
          <a:xfrm>
            <a:off x="822960" y="1847088"/>
            <a:ext cx="1645920" cy="868680"/>
          </a:xfrm>
          <a:prstGeom prst="roundRect">
            <a:avLst/>
          </a:prstGeom>
          <a:solidFill>
            <a:srgbClr val="17243D"/>
          </a:solidFill>
          <a:ln w="10160">
            <a:solidFill>
              <a:srgbClr val="5D7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1847088"/>
            <a:ext cx="1645920" cy="50292"/>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02536"/>
            <a:ext cx="1463040" cy="256032"/>
          </a:xfrm>
          <a:prstGeom prst="rect">
            <a:avLst/>
          </a:prstGeom>
          <a:noFill/>
        </p:spPr>
        <p:txBody>
          <a:bodyPr wrap="square" lIns="18288" rIns="18288" tIns="18288" bIns="18288" anchor="t">
            <a:spAutoFit/>
          </a:bodyPr>
          <a:lstStyle/>
          <a:p>
            <a:pPr algn="ctr">
              <a:spcAft>
                <a:spcPts val="0"/>
              </a:spcAft>
              <a:defRPr sz="1200" b="1" i="0">
                <a:solidFill>
                  <a:srgbClr val="F4F7FF"/>
                </a:solidFill>
                <a:latin typeface="Aptos"/>
              </a:defRPr>
            </a:pPr>
            <a:r>
              <a:rPr sz="1200" b="1" i="0">
                <a:solidFill>
                  <a:srgbClr val="F4F7FF"/>
                </a:solidFill>
                <a:latin typeface="Aptos"/>
              </a:rPr>
              <a:t>QUEUED</a:t>
            </a:r>
          </a:p>
        </p:txBody>
      </p:sp>
      <p:sp>
        <p:nvSpPr>
          <p:cNvPr id="13" name="TextBox 12"/>
          <p:cNvSpPr txBox="1"/>
          <p:nvPr/>
        </p:nvSpPr>
        <p:spPr>
          <a:xfrm>
            <a:off x="914400" y="2331720"/>
            <a:ext cx="1463040" cy="310896"/>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eligible for claim</a:t>
            </a:r>
          </a:p>
        </p:txBody>
      </p:sp>
      <p:sp>
        <p:nvSpPr>
          <p:cNvPr id="14" name="Rounded Rectangle 13"/>
          <p:cNvSpPr/>
          <p:nvPr/>
        </p:nvSpPr>
        <p:spPr>
          <a:xfrm>
            <a:off x="3401568" y="1847088"/>
            <a:ext cx="1645920" cy="868680"/>
          </a:xfrm>
          <a:prstGeom prst="roundRect">
            <a:avLst/>
          </a:prstGeom>
          <a:solidFill>
            <a:srgbClr val="17243D"/>
          </a:solidFill>
          <a:ln w="10160">
            <a:solidFill>
              <a:srgbClr val="3D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1568" y="1847088"/>
            <a:ext cx="1645920" cy="50292"/>
          </a:xfrm>
          <a:prstGeom prst="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3008" y="2002536"/>
            <a:ext cx="1463040" cy="256032"/>
          </a:xfrm>
          <a:prstGeom prst="rect">
            <a:avLst/>
          </a:prstGeom>
          <a:noFill/>
        </p:spPr>
        <p:txBody>
          <a:bodyPr wrap="square" lIns="18288" rIns="18288" tIns="18288" bIns="18288" anchor="t">
            <a:spAutoFit/>
          </a:bodyPr>
          <a:lstStyle/>
          <a:p>
            <a:pPr algn="ctr">
              <a:spcAft>
                <a:spcPts val="0"/>
              </a:spcAft>
              <a:defRPr sz="1200" b="1" i="0">
                <a:solidFill>
                  <a:srgbClr val="F4F7FF"/>
                </a:solidFill>
                <a:latin typeface="Aptos"/>
              </a:defRPr>
            </a:pPr>
            <a:r>
              <a:rPr sz="1200" b="1" i="0">
                <a:solidFill>
                  <a:srgbClr val="F4F7FF"/>
                </a:solidFill>
                <a:latin typeface="Aptos"/>
              </a:rPr>
              <a:t>RUNNING</a:t>
            </a:r>
          </a:p>
        </p:txBody>
      </p:sp>
      <p:sp>
        <p:nvSpPr>
          <p:cNvPr id="17" name="TextBox 16"/>
          <p:cNvSpPr txBox="1"/>
          <p:nvPr/>
        </p:nvSpPr>
        <p:spPr>
          <a:xfrm>
            <a:off x="3493008" y="2331720"/>
            <a:ext cx="1463040" cy="310896"/>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attempt executing</a:t>
            </a:r>
          </a:p>
        </p:txBody>
      </p:sp>
      <p:sp>
        <p:nvSpPr>
          <p:cNvPr id="18" name="Rounded Rectangle 17"/>
          <p:cNvSpPr/>
          <p:nvPr/>
        </p:nvSpPr>
        <p:spPr>
          <a:xfrm>
            <a:off x="6528816" y="1847088"/>
            <a:ext cx="1645920" cy="868680"/>
          </a:xfrm>
          <a:prstGeom prst="roundRect">
            <a:avLst/>
          </a:prstGeom>
          <a:solidFill>
            <a:srgbClr val="17243D"/>
          </a:solidFill>
          <a:ln w="10160">
            <a:solidFill>
              <a:srgbClr val="6BE6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28816" y="1847088"/>
            <a:ext cx="1645920" cy="50292"/>
          </a:xfrm>
          <a:prstGeom prst="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0255" y="2002536"/>
            <a:ext cx="1463040" cy="256032"/>
          </a:xfrm>
          <a:prstGeom prst="rect">
            <a:avLst/>
          </a:prstGeom>
          <a:noFill/>
        </p:spPr>
        <p:txBody>
          <a:bodyPr wrap="square" lIns="18288" rIns="18288" tIns="18288" bIns="18288" anchor="t">
            <a:spAutoFit/>
          </a:bodyPr>
          <a:lstStyle/>
          <a:p>
            <a:pPr algn="ctr">
              <a:spcAft>
                <a:spcPts val="0"/>
              </a:spcAft>
              <a:defRPr sz="1200" b="1" i="0">
                <a:solidFill>
                  <a:srgbClr val="F4F7FF"/>
                </a:solidFill>
                <a:latin typeface="Aptos"/>
              </a:defRPr>
            </a:pPr>
            <a:r>
              <a:rPr sz="1200" b="1" i="0">
                <a:solidFill>
                  <a:srgbClr val="F4F7FF"/>
                </a:solidFill>
                <a:latin typeface="Aptos"/>
              </a:rPr>
              <a:t>SUCCEEDED</a:t>
            </a:r>
          </a:p>
        </p:txBody>
      </p:sp>
      <p:sp>
        <p:nvSpPr>
          <p:cNvPr id="21" name="TextBox 20"/>
          <p:cNvSpPr txBox="1"/>
          <p:nvPr/>
        </p:nvSpPr>
        <p:spPr>
          <a:xfrm>
            <a:off x="6620255" y="2331720"/>
            <a:ext cx="1463040" cy="310896"/>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result saved</a:t>
            </a:r>
          </a:p>
        </p:txBody>
      </p:sp>
      <p:sp>
        <p:nvSpPr>
          <p:cNvPr id="22" name="Rounded Rectangle 21"/>
          <p:cNvSpPr/>
          <p:nvPr/>
        </p:nvSpPr>
        <p:spPr>
          <a:xfrm>
            <a:off x="9326880" y="1847088"/>
            <a:ext cx="1645920" cy="868680"/>
          </a:xfrm>
          <a:prstGeom prst="roundRect">
            <a:avLst/>
          </a:prstGeom>
          <a:solidFill>
            <a:srgbClr val="17243D"/>
          </a:solidFill>
          <a:ln w="10160">
            <a:solidFill>
              <a:srgbClr val="FF6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26880" y="1847088"/>
            <a:ext cx="1645920" cy="50292"/>
          </a:xfrm>
          <a:prstGeom prst="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19" y="2002536"/>
            <a:ext cx="1463040" cy="256032"/>
          </a:xfrm>
          <a:prstGeom prst="rect">
            <a:avLst/>
          </a:prstGeom>
          <a:noFill/>
        </p:spPr>
        <p:txBody>
          <a:bodyPr wrap="square" lIns="18288" rIns="18288" tIns="18288" bIns="18288" anchor="t">
            <a:spAutoFit/>
          </a:bodyPr>
          <a:lstStyle/>
          <a:p>
            <a:pPr algn="ctr">
              <a:spcAft>
                <a:spcPts val="0"/>
              </a:spcAft>
              <a:defRPr sz="1200" b="1" i="0">
                <a:solidFill>
                  <a:srgbClr val="F4F7FF"/>
                </a:solidFill>
                <a:latin typeface="Aptos"/>
              </a:defRPr>
            </a:pPr>
            <a:r>
              <a:rPr sz="1200" b="1" i="0">
                <a:solidFill>
                  <a:srgbClr val="F4F7FF"/>
                </a:solidFill>
                <a:latin typeface="Aptos"/>
              </a:rPr>
              <a:t>FAILED</a:t>
            </a:r>
          </a:p>
        </p:txBody>
      </p:sp>
      <p:sp>
        <p:nvSpPr>
          <p:cNvPr id="25" name="TextBox 24"/>
          <p:cNvSpPr txBox="1"/>
          <p:nvPr/>
        </p:nvSpPr>
        <p:spPr>
          <a:xfrm>
            <a:off x="9418319" y="2331720"/>
            <a:ext cx="1463040" cy="310896"/>
          </a:xfrm>
          <a:prstGeom prst="rect">
            <a:avLst/>
          </a:prstGeom>
          <a:noFill/>
        </p:spPr>
        <p:txBody>
          <a:bodyPr wrap="square" lIns="18288" rIns="18288" tIns="18288" bIns="18288" anchor="t">
            <a:spAutoFit/>
          </a:bodyPr>
          <a:lstStyle/>
          <a:p>
            <a:pPr algn="ctr">
              <a:spcAft>
                <a:spcPts val="0"/>
              </a:spcAft>
              <a:defRPr sz="900" b="0" i="0">
                <a:solidFill>
                  <a:srgbClr val="A5B4CF"/>
                </a:solidFill>
                <a:latin typeface="Aptos"/>
              </a:defRPr>
            </a:pPr>
            <a:r>
              <a:rPr sz="900" b="0" i="0">
                <a:solidFill>
                  <a:srgbClr val="A5B4CF"/>
                </a:solidFill>
                <a:latin typeface="Aptos"/>
              </a:rPr>
              <a:t>terminal state</a:t>
            </a:r>
          </a:p>
        </p:txBody>
      </p:sp>
      <p:cxnSp>
        <p:nvCxnSpPr>
          <p:cNvPr id="26" name="Connector 25"/>
          <p:cNvCxnSpPr/>
          <p:nvPr/>
        </p:nvCxnSpPr>
        <p:spPr>
          <a:xfrm>
            <a:off x="2487168" y="2286000"/>
            <a:ext cx="832104" cy="0"/>
          </a:xfrm>
          <a:prstGeom prst="line">
            <a:avLst/>
          </a:prstGeom>
          <a:ln w="22860">
            <a:solidFill>
              <a:srgbClr val="3DE0D6"/>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3255264" y="2221992"/>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5065776" y="2286000"/>
            <a:ext cx="1380744" cy="0"/>
          </a:xfrm>
          <a:prstGeom prst="line">
            <a:avLst/>
          </a:prstGeom>
          <a:ln w="22860">
            <a:solidFill>
              <a:srgbClr val="6BE6AF"/>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6382512" y="2221992"/>
            <a:ext cx="128016" cy="128016"/>
          </a:xfrm>
          <a:prstGeom prst="triangl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5065776" y="2569464"/>
            <a:ext cx="0" cy="374904"/>
          </a:xfrm>
          <a:prstGeom prst="line">
            <a:avLst/>
          </a:prstGeom>
          <a:ln w="15240">
            <a:solidFill>
              <a:srgbClr val="FF6F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065776" y="2944368"/>
            <a:ext cx="5084064" cy="0"/>
          </a:xfrm>
          <a:prstGeom prst="line">
            <a:avLst/>
          </a:prstGeom>
          <a:ln w="15240">
            <a:solidFill>
              <a:srgbClr val="FF6F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149840" y="2752344"/>
            <a:ext cx="0" cy="192024"/>
          </a:xfrm>
          <a:prstGeom prst="line">
            <a:avLst/>
          </a:prstGeom>
          <a:ln w="15240">
            <a:solidFill>
              <a:srgbClr val="FF6F8C"/>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a:off x="10085832" y="2688336"/>
            <a:ext cx="128016" cy="128016"/>
          </a:xfrm>
          <a:prstGeom prst="triangl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9320" y="2999232"/>
            <a:ext cx="3520440" cy="164592"/>
          </a:xfrm>
          <a:prstGeom prst="rect">
            <a:avLst/>
          </a:prstGeom>
          <a:noFill/>
        </p:spPr>
        <p:txBody>
          <a:bodyPr wrap="square" lIns="18288" rIns="18288" tIns="18288" bIns="18288" anchor="t">
            <a:spAutoFit/>
          </a:bodyPr>
          <a:lstStyle/>
          <a:p>
            <a:pPr algn="ctr">
              <a:spcAft>
                <a:spcPts val="0"/>
              </a:spcAft>
              <a:defRPr sz="830" b="1" i="0">
                <a:solidFill>
                  <a:srgbClr val="FF6F8C"/>
                </a:solidFill>
                <a:latin typeface="Aptos"/>
              </a:defRPr>
            </a:pPr>
            <a:r>
              <a:rPr sz="830" b="1" i="0">
                <a:solidFill>
                  <a:srgbClr val="FF6F8C"/>
                </a:solidFill>
                <a:latin typeface="Aptos"/>
              </a:rPr>
              <a:t>permanent error / retry limit reached</a:t>
            </a:r>
          </a:p>
        </p:txBody>
      </p:sp>
      <p:cxnSp>
        <p:nvCxnSpPr>
          <p:cNvPr id="35" name="Connector 34"/>
          <p:cNvCxnSpPr/>
          <p:nvPr/>
        </p:nvCxnSpPr>
        <p:spPr>
          <a:xfrm>
            <a:off x="4160520" y="2816352"/>
            <a:ext cx="0" cy="448056"/>
          </a:xfrm>
          <a:prstGeom prst="line">
            <a:avLst/>
          </a:prstGeom>
          <a:ln w="19050">
            <a:solidFill>
              <a:srgbClr val="FFC25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645920" y="3264408"/>
            <a:ext cx="2514600" cy="0"/>
          </a:xfrm>
          <a:prstGeom prst="line">
            <a:avLst/>
          </a:prstGeom>
          <a:ln w="19050">
            <a:solidFill>
              <a:srgbClr val="FFC25E"/>
            </a:solidFill>
          </a:ln>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rot="16200000">
            <a:off x="1581912" y="3200400"/>
            <a:ext cx="128016" cy="128016"/>
          </a:xfrm>
          <a:prstGeom prst="triangl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1645920" y="2816352"/>
            <a:ext cx="0" cy="448056"/>
          </a:xfrm>
          <a:prstGeom prst="line">
            <a:avLst/>
          </a:prstGeom>
          <a:ln w="19050">
            <a:solidFill>
              <a:srgbClr val="FFC25E"/>
            </a:solidFill>
          </a:ln>
        </p:spPr>
        <p:style>
          <a:lnRef idx="2">
            <a:schemeClr val="accent1"/>
          </a:lnRef>
          <a:fillRef idx="0">
            <a:schemeClr val="accent1"/>
          </a:fillRef>
          <a:effectRef idx="1">
            <a:schemeClr val="accent1"/>
          </a:effectRef>
          <a:fontRef idx="minor">
            <a:schemeClr val="tx1"/>
          </a:fontRef>
        </p:style>
      </p:cxnSp>
      <p:sp>
        <p:nvSpPr>
          <p:cNvPr id="39" name="Isosceles Triangle 38"/>
          <p:cNvSpPr/>
          <p:nvPr/>
        </p:nvSpPr>
        <p:spPr>
          <a:xfrm>
            <a:off x="1581912" y="2752344"/>
            <a:ext cx="128016" cy="128016"/>
          </a:xfrm>
          <a:prstGeom prst="triangl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783080" y="3364992"/>
            <a:ext cx="5303520" cy="182880"/>
          </a:xfrm>
          <a:prstGeom prst="rect">
            <a:avLst/>
          </a:prstGeom>
          <a:noFill/>
        </p:spPr>
        <p:txBody>
          <a:bodyPr wrap="square" lIns="18288" rIns="18288" tIns="18288" bIns="18288" anchor="t">
            <a:spAutoFit/>
          </a:bodyPr>
          <a:lstStyle/>
          <a:p>
            <a:pPr algn="l">
              <a:spcAft>
                <a:spcPts val="0"/>
              </a:spcAft>
              <a:defRPr sz="869" b="1" i="0">
                <a:solidFill>
                  <a:srgbClr val="FFC25E"/>
                </a:solidFill>
                <a:latin typeface="Aptos"/>
              </a:defRPr>
            </a:pPr>
            <a:r>
              <a:rPr sz="869" b="1" i="0">
                <a:solidFill>
                  <a:srgbClr val="FFC25E"/>
                </a:solidFill>
                <a:latin typeface="Aptos"/>
              </a:rPr>
              <a:t>retryable error + attempts left: schedule next_attempt_at, return to queued</a:t>
            </a:r>
          </a:p>
        </p:txBody>
      </p:sp>
      <p:sp>
        <p:nvSpPr>
          <p:cNvPr id="41" name="Rounded Rectangle 40"/>
          <p:cNvSpPr/>
          <p:nvPr/>
        </p:nvSpPr>
        <p:spPr>
          <a:xfrm>
            <a:off x="768096" y="3886200"/>
            <a:ext cx="3383280" cy="149047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8096" y="3886200"/>
            <a:ext cx="50292" cy="1490472"/>
          </a:xfrm>
          <a:prstGeom prst="rect">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0976" y="4050791"/>
            <a:ext cx="3035808" cy="283464"/>
          </a:xfrm>
          <a:prstGeom prst="rect">
            <a:avLst/>
          </a:prstGeom>
          <a:noFill/>
        </p:spPr>
        <p:txBody>
          <a:bodyPr wrap="square" lIns="18288" rIns="18288" tIns="18288" bIns="18288" anchor="t">
            <a:spAutoFit/>
          </a:bodyPr>
          <a:lstStyle/>
          <a:p>
            <a:pPr algn="l">
              <a:spcAft>
                <a:spcPts val="0"/>
              </a:spcAft>
              <a:defRPr sz="1400" b="1" i="0">
                <a:solidFill>
                  <a:srgbClr val="F4F7FF"/>
                </a:solidFill>
                <a:latin typeface="Aptos"/>
              </a:defRPr>
            </a:pPr>
            <a:r>
              <a:rPr sz="1400" b="1" i="0">
                <a:solidFill>
                  <a:srgbClr val="F4F7FF"/>
                </a:solidFill>
                <a:latin typeface="Aptos"/>
              </a:rPr>
              <a:t>01  RETRY POLICY</a:t>
            </a:r>
          </a:p>
        </p:txBody>
      </p:sp>
      <p:sp>
        <p:nvSpPr>
          <p:cNvPr id="44" name="TextBox 43"/>
          <p:cNvSpPr txBox="1"/>
          <p:nvPr/>
        </p:nvSpPr>
        <p:spPr>
          <a:xfrm>
            <a:off x="950976" y="4425696"/>
            <a:ext cx="3026664" cy="832103"/>
          </a:xfrm>
          <a:prstGeom prst="rect">
            <a:avLst/>
          </a:prstGeom>
          <a:noFill/>
        </p:spPr>
        <p:txBody>
          <a:bodyPr wrap="square" lIns="18288" rIns="18288" tIns="18288" bIns="18288" anchor="t">
            <a:spAutoFit/>
          </a:bodyPr>
          <a:lstStyle/>
          <a:p>
            <a:pPr algn="l">
              <a:spcAft>
                <a:spcPts val="0"/>
              </a:spcAft>
              <a:defRPr sz="1050" b="0" i="0">
                <a:solidFill>
                  <a:srgbClr val="A5B4CF"/>
                </a:solidFill>
                <a:latin typeface="Aptos"/>
              </a:defRPr>
            </a:pPr>
            <a:r>
              <a:rPr sz="1050" b="0" i="0">
                <a:solidFill>
                  <a:srgbClr val="A5B4CF"/>
                </a:solidFill>
                <a:latin typeface="Aptos"/>
              </a:rPr>
              <a:t>Start with max_attempts = 3 (including the first run). Only retry classified transient failures.</a:t>
            </a:r>
          </a:p>
        </p:txBody>
      </p:sp>
      <p:sp>
        <p:nvSpPr>
          <p:cNvPr id="45" name="Rounded Rectangle 44"/>
          <p:cNvSpPr/>
          <p:nvPr/>
        </p:nvSpPr>
        <p:spPr>
          <a:xfrm>
            <a:off x="4416552" y="3886200"/>
            <a:ext cx="3383280" cy="149047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416552" y="3886200"/>
            <a:ext cx="50292" cy="1490472"/>
          </a:xfrm>
          <a:prstGeom prst="rect">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99432" y="4050791"/>
            <a:ext cx="3035808" cy="283464"/>
          </a:xfrm>
          <a:prstGeom prst="rect">
            <a:avLst/>
          </a:prstGeom>
          <a:noFill/>
        </p:spPr>
        <p:txBody>
          <a:bodyPr wrap="square" lIns="18288" rIns="18288" tIns="18288" bIns="18288" anchor="t">
            <a:spAutoFit/>
          </a:bodyPr>
          <a:lstStyle/>
          <a:p>
            <a:pPr algn="l">
              <a:spcAft>
                <a:spcPts val="0"/>
              </a:spcAft>
              <a:defRPr sz="1400" b="1" i="0">
                <a:solidFill>
                  <a:srgbClr val="F4F7FF"/>
                </a:solidFill>
                <a:latin typeface="Aptos"/>
              </a:defRPr>
            </a:pPr>
            <a:r>
              <a:rPr sz="1400" b="1" i="0">
                <a:solidFill>
                  <a:srgbClr val="F4F7FF"/>
                </a:solidFill>
                <a:latin typeface="Aptos"/>
              </a:rPr>
              <a:t>02  IDEMPOTENCY</a:t>
            </a:r>
          </a:p>
        </p:txBody>
      </p:sp>
      <p:sp>
        <p:nvSpPr>
          <p:cNvPr id="48" name="TextBox 47"/>
          <p:cNvSpPr txBox="1"/>
          <p:nvPr/>
        </p:nvSpPr>
        <p:spPr>
          <a:xfrm>
            <a:off x="4599432" y="4425696"/>
            <a:ext cx="3026664" cy="832103"/>
          </a:xfrm>
          <a:prstGeom prst="rect">
            <a:avLst/>
          </a:prstGeom>
          <a:noFill/>
        </p:spPr>
        <p:txBody>
          <a:bodyPr wrap="square" lIns="18288" rIns="18288" tIns="18288" bIns="18288" anchor="t">
            <a:spAutoFit/>
          </a:bodyPr>
          <a:lstStyle/>
          <a:p>
            <a:pPr algn="l">
              <a:spcAft>
                <a:spcPts val="0"/>
              </a:spcAft>
              <a:defRPr sz="1050" b="0" i="0">
                <a:solidFill>
                  <a:srgbClr val="A5B4CF"/>
                </a:solidFill>
                <a:latin typeface="Aptos"/>
              </a:defRPr>
            </a:pPr>
            <a:r>
              <a:rPr sz="1050" b="0" i="0">
                <a:solidFill>
                  <a:srgbClr val="A5B4CF"/>
                </a:solidFill>
                <a:latin typeface="Aptos"/>
              </a:rPr>
              <a:t>A job may execute again after a crash. Keep demo side effects safe to repeat.</a:t>
            </a:r>
          </a:p>
        </p:txBody>
      </p:sp>
      <p:sp>
        <p:nvSpPr>
          <p:cNvPr id="49" name="Rounded Rectangle 48"/>
          <p:cNvSpPr/>
          <p:nvPr/>
        </p:nvSpPr>
        <p:spPr>
          <a:xfrm>
            <a:off x="8065008" y="3886200"/>
            <a:ext cx="3383280" cy="149047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65008" y="3886200"/>
            <a:ext cx="50292" cy="1490472"/>
          </a:xfrm>
          <a:prstGeom prst="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47888" y="4050791"/>
            <a:ext cx="3035808" cy="283464"/>
          </a:xfrm>
          <a:prstGeom prst="rect">
            <a:avLst/>
          </a:prstGeom>
          <a:noFill/>
        </p:spPr>
        <p:txBody>
          <a:bodyPr wrap="square" lIns="18288" rIns="18288" tIns="18288" bIns="18288" anchor="t">
            <a:spAutoFit/>
          </a:bodyPr>
          <a:lstStyle/>
          <a:p>
            <a:pPr algn="l">
              <a:spcAft>
                <a:spcPts val="0"/>
              </a:spcAft>
              <a:defRPr sz="1400" b="1" i="0">
                <a:solidFill>
                  <a:srgbClr val="F4F7FF"/>
                </a:solidFill>
                <a:latin typeface="Aptos"/>
              </a:defRPr>
            </a:pPr>
            <a:r>
              <a:rPr sz="1400" b="1" i="0">
                <a:solidFill>
                  <a:srgbClr val="F4F7FF"/>
                </a:solidFill>
                <a:latin typeface="Aptos"/>
              </a:rPr>
              <a:t>03  STALE JOBS</a:t>
            </a:r>
          </a:p>
        </p:txBody>
      </p:sp>
      <p:sp>
        <p:nvSpPr>
          <p:cNvPr id="52" name="TextBox 51"/>
          <p:cNvSpPr txBox="1"/>
          <p:nvPr/>
        </p:nvSpPr>
        <p:spPr>
          <a:xfrm>
            <a:off x="8247888" y="4425696"/>
            <a:ext cx="3026664" cy="832103"/>
          </a:xfrm>
          <a:prstGeom prst="rect">
            <a:avLst/>
          </a:prstGeom>
          <a:noFill/>
        </p:spPr>
        <p:txBody>
          <a:bodyPr wrap="square" lIns="18288" rIns="18288" tIns="18288" bIns="18288" anchor="t">
            <a:spAutoFit/>
          </a:bodyPr>
          <a:lstStyle/>
          <a:p>
            <a:pPr algn="l">
              <a:spcAft>
                <a:spcPts val="0"/>
              </a:spcAft>
              <a:defRPr sz="1050" b="0" i="0">
                <a:solidFill>
                  <a:srgbClr val="A5B4CF"/>
                </a:solidFill>
                <a:latin typeface="Aptos"/>
              </a:defRPr>
            </a:pPr>
            <a:r>
              <a:rPr sz="1050" b="0" i="0">
                <a:solidFill>
                  <a:srgbClr val="A5B4CF"/>
                </a:solidFill>
                <a:latin typeface="Aptos"/>
              </a:rPr>
              <a:t>A worker may stop mid-run. Add a timeout / stale-running recovery rule or document the gap.</a:t>
            </a:r>
          </a:p>
        </p:txBody>
      </p:sp>
      <p:sp>
        <p:nvSpPr>
          <p:cNvPr id="53" name="Rounded Rectangle 52"/>
          <p:cNvSpPr/>
          <p:nvPr/>
        </p:nvSpPr>
        <p:spPr>
          <a:xfrm>
            <a:off x="777240" y="5632704"/>
            <a:ext cx="10652760" cy="420624"/>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0120" y="5751576"/>
            <a:ext cx="10241280" cy="164592"/>
          </a:xfrm>
          <a:prstGeom prst="rect">
            <a:avLst/>
          </a:prstGeom>
          <a:noFill/>
        </p:spPr>
        <p:txBody>
          <a:bodyPr wrap="square" lIns="27432" rIns="27432" tIns="27432" bIns="27432" anchor="t">
            <a:spAutoFit/>
          </a:bodyPr>
          <a:lstStyle/>
          <a:p>
            <a:pPr algn="l">
              <a:spcAft>
                <a:spcPts val="0"/>
              </a:spcAft>
            </a:pPr>
            <a:r>
              <a:rPr sz="950" b="1" i="0">
                <a:solidFill>
                  <a:srgbClr val="3DE0D6"/>
                </a:solidFill>
                <a:latin typeface="Aptos"/>
              </a:rPr>
              <a:t>MVP RULE  </a:t>
            </a:r>
            <a:r>
              <a:rPr sz="1100" b="1" i="0">
                <a:solidFill>
                  <a:srgbClr val="F4F7FF"/>
                </a:solidFill>
                <a:latin typeface="Aptos"/>
              </a:rPr>
              <a:t>Retry attempts are recorded. Every job must end in a visible terminal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06  /  PRODUCT EXPERIENCE</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A dashboard should make system behavior obvious.</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07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UI CONCEPT  •  SAMPLE DATA ONLY  •  NOT A LIVE APPLICATION</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07</a:t>
            </a:r>
          </a:p>
        </p:txBody>
      </p:sp>
      <p:sp>
        <p:nvSpPr>
          <p:cNvPr id="10" name="Rounded Rectangle 9"/>
          <p:cNvSpPr/>
          <p:nvPr/>
        </p:nvSpPr>
        <p:spPr>
          <a:xfrm>
            <a:off x="694944" y="1627632"/>
            <a:ext cx="10771632" cy="4526280"/>
          </a:xfrm>
          <a:prstGeom prst="roundRect">
            <a:avLst/>
          </a:prstGeom>
          <a:solidFill>
            <a:srgbClr val="0C1424"/>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4944" y="1627632"/>
            <a:ext cx="1664208" cy="4526280"/>
          </a:xfrm>
          <a:prstGeom prst="roundRect">
            <a:avLst/>
          </a:prstGeom>
          <a:solidFill>
            <a:srgbClr val="0E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1865376"/>
            <a:ext cx="256032" cy="256032"/>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3584" y="1892807"/>
            <a:ext cx="868680" cy="192024"/>
          </a:xfrm>
          <a:prstGeom prst="rect">
            <a:avLst/>
          </a:prstGeom>
          <a:noFill/>
        </p:spPr>
        <p:txBody>
          <a:bodyPr wrap="square" lIns="18288" rIns="18288" tIns="18288" bIns="18288" anchor="t">
            <a:spAutoFit/>
          </a:bodyPr>
          <a:lstStyle/>
          <a:p>
            <a:pPr algn="l">
              <a:spcAft>
                <a:spcPts val="0"/>
              </a:spcAft>
              <a:defRPr sz="1200" b="1" i="0">
                <a:solidFill>
                  <a:srgbClr val="F4F7FF"/>
                </a:solidFill>
                <a:latin typeface="Aptos"/>
              </a:defRPr>
            </a:pPr>
            <a:r>
              <a:rPr sz="1200" b="1" i="0">
                <a:solidFill>
                  <a:srgbClr val="F4F7FF"/>
                </a:solidFill>
                <a:latin typeface="Aptos"/>
              </a:rPr>
              <a:t>QueueOS</a:t>
            </a:r>
          </a:p>
        </p:txBody>
      </p:sp>
      <p:sp>
        <p:nvSpPr>
          <p:cNvPr id="14" name="Rounded Rectangle 13"/>
          <p:cNvSpPr/>
          <p:nvPr/>
        </p:nvSpPr>
        <p:spPr>
          <a:xfrm>
            <a:off x="850392" y="2395728"/>
            <a:ext cx="1353312" cy="347472"/>
          </a:xfrm>
          <a:prstGeom prst="roundRect">
            <a:avLst/>
          </a:prstGeom>
          <a:solidFill>
            <a:srgbClr val="1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468880"/>
            <a:ext cx="1005840" cy="173736"/>
          </a:xfrm>
          <a:prstGeom prst="rect">
            <a:avLst/>
          </a:prstGeom>
          <a:noFill/>
        </p:spPr>
        <p:txBody>
          <a:bodyPr wrap="square" lIns="18288" rIns="18288" tIns="18288" bIns="18288" anchor="t">
            <a:spAutoFit/>
          </a:bodyPr>
          <a:lstStyle/>
          <a:p>
            <a:pPr algn="l">
              <a:spcAft>
                <a:spcPts val="0"/>
              </a:spcAft>
              <a:defRPr sz="950" b="1" i="0">
                <a:solidFill>
                  <a:srgbClr val="F4F7FF"/>
                </a:solidFill>
                <a:latin typeface="Aptos"/>
              </a:defRPr>
            </a:pPr>
            <a:r>
              <a:rPr sz="950" b="1" i="0">
                <a:solidFill>
                  <a:srgbClr val="F4F7FF"/>
                </a:solidFill>
                <a:latin typeface="Aptos"/>
              </a:rPr>
              <a:t>Overview</a:t>
            </a:r>
          </a:p>
        </p:txBody>
      </p:sp>
      <p:sp>
        <p:nvSpPr>
          <p:cNvPr id="16" name="TextBox 15"/>
          <p:cNvSpPr txBox="1"/>
          <p:nvPr/>
        </p:nvSpPr>
        <p:spPr>
          <a:xfrm>
            <a:off x="1033271" y="2944368"/>
            <a:ext cx="1005840" cy="17373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All jobs</a:t>
            </a:r>
          </a:p>
        </p:txBody>
      </p:sp>
      <p:sp>
        <p:nvSpPr>
          <p:cNvPr id="17" name="TextBox 16"/>
          <p:cNvSpPr txBox="1"/>
          <p:nvPr/>
        </p:nvSpPr>
        <p:spPr>
          <a:xfrm>
            <a:off x="1033271" y="3419856"/>
            <a:ext cx="1005840" cy="17373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Failed jobs</a:t>
            </a:r>
          </a:p>
        </p:txBody>
      </p:sp>
      <p:sp>
        <p:nvSpPr>
          <p:cNvPr id="18" name="TextBox 17"/>
          <p:cNvSpPr txBox="1"/>
          <p:nvPr/>
        </p:nvSpPr>
        <p:spPr>
          <a:xfrm>
            <a:off x="1033271" y="3895344"/>
            <a:ext cx="1005840" cy="173736"/>
          </a:xfrm>
          <a:prstGeom prst="rect">
            <a:avLst/>
          </a:prstGeom>
          <a:noFill/>
        </p:spPr>
        <p:txBody>
          <a:bodyPr wrap="square" lIns="18288" rIns="18288" tIns="18288" bIns="18288" anchor="t">
            <a:spAutoFit/>
          </a:bodyPr>
          <a:lstStyle/>
          <a:p>
            <a:pPr algn="l">
              <a:spcAft>
                <a:spcPts val="0"/>
              </a:spcAft>
              <a:defRPr sz="950" b="0" i="0">
                <a:solidFill>
                  <a:srgbClr val="A5B4CF"/>
                </a:solidFill>
                <a:latin typeface="Aptos"/>
              </a:defRPr>
            </a:pPr>
            <a:r>
              <a:rPr sz="950" b="0" i="0">
                <a:solidFill>
                  <a:srgbClr val="A5B4CF"/>
                </a:solidFill>
                <a:latin typeface="Aptos"/>
              </a:rPr>
              <a:t>Settings</a:t>
            </a:r>
          </a:p>
        </p:txBody>
      </p:sp>
      <p:sp>
        <p:nvSpPr>
          <p:cNvPr id="19" name="TextBox 18"/>
          <p:cNvSpPr txBox="1"/>
          <p:nvPr/>
        </p:nvSpPr>
        <p:spPr>
          <a:xfrm>
            <a:off x="2660904" y="1847088"/>
            <a:ext cx="109728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OVERVIEW</a:t>
            </a:r>
          </a:p>
        </p:txBody>
      </p:sp>
      <p:sp>
        <p:nvSpPr>
          <p:cNvPr id="20" name="TextBox 19"/>
          <p:cNvSpPr txBox="1"/>
          <p:nvPr/>
        </p:nvSpPr>
        <p:spPr>
          <a:xfrm>
            <a:off x="2660904" y="2130552"/>
            <a:ext cx="2834640" cy="320040"/>
          </a:xfrm>
          <a:prstGeom prst="rect">
            <a:avLst/>
          </a:prstGeom>
          <a:noFill/>
        </p:spPr>
        <p:txBody>
          <a:bodyPr wrap="square" lIns="18288" rIns="18288" tIns="18288" bIns="18288" anchor="t">
            <a:spAutoFit/>
          </a:bodyPr>
          <a:lstStyle/>
          <a:p>
            <a:pPr algn="l">
              <a:spcAft>
                <a:spcPts val="0"/>
              </a:spcAft>
              <a:defRPr sz="2100" b="1" i="0">
                <a:solidFill>
                  <a:srgbClr val="F4F7FF"/>
                </a:solidFill>
                <a:latin typeface="Aptos"/>
              </a:defRPr>
            </a:pPr>
            <a:r>
              <a:rPr sz="2100" b="1" i="0">
                <a:solidFill>
                  <a:srgbClr val="F4F7FF"/>
                </a:solidFill>
                <a:latin typeface="Aptos"/>
              </a:rPr>
              <a:t>Job activity</a:t>
            </a:r>
          </a:p>
        </p:txBody>
      </p:sp>
      <p:sp>
        <p:nvSpPr>
          <p:cNvPr id="21" name="TextBox 20"/>
          <p:cNvSpPr txBox="1"/>
          <p:nvPr/>
        </p:nvSpPr>
        <p:spPr>
          <a:xfrm>
            <a:off x="2670048" y="2496312"/>
            <a:ext cx="4297680" cy="17373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Illustrative data  •  updated just now (mock)</a:t>
            </a:r>
          </a:p>
        </p:txBody>
      </p:sp>
      <p:sp>
        <p:nvSpPr>
          <p:cNvPr id="22" name="Rounded Rectangle 21"/>
          <p:cNvSpPr/>
          <p:nvPr/>
        </p:nvSpPr>
        <p:spPr>
          <a:xfrm>
            <a:off x="9848088" y="2048256"/>
            <a:ext cx="1188720" cy="310896"/>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84663" y="2084832"/>
            <a:ext cx="1115568" cy="237744"/>
          </a:xfrm>
          <a:prstGeom prst="rect">
            <a:avLst/>
          </a:prstGeom>
          <a:noFill/>
        </p:spPr>
        <p:txBody>
          <a:bodyPr wrap="square" lIns="0" rIns="0" tIns="0" bIns="0" anchor="ctr">
            <a:spAutoFit/>
          </a:bodyPr>
          <a:lstStyle/>
          <a:p>
            <a:pPr algn="ctr">
              <a:spcAft>
                <a:spcPts val="0"/>
              </a:spcAft>
              <a:defRPr sz="800" b="1" i="0">
                <a:solidFill>
                  <a:srgbClr val="F4F7FF"/>
                </a:solidFill>
                <a:latin typeface="Aptos"/>
              </a:defRPr>
            </a:pPr>
            <a:r>
              <a:rPr sz="800" b="1" i="0">
                <a:solidFill>
                  <a:srgbClr val="F4F7FF"/>
                </a:solidFill>
                <a:latin typeface="Aptos"/>
              </a:rPr>
              <a:t>+ NEW JOB</a:t>
            </a:r>
          </a:p>
        </p:txBody>
      </p:sp>
      <p:sp>
        <p:nvSpPr>
          <p:cNvPr id="24" name="Rounded Rectangle 23"/>
          <p:cNvSpPr/>
          <p:nvPr/>
        </p:nvSpPr>
        <p:spPr>
          <a:xfrm>
            <a:off x="2651760" y="2852928"/>
            <a:ext cx="1865376" cy="786384"/>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2990088"/>
            <a:ext cx="1417320" cy="146304"/>
          </a:xfrm>
          <a:prstGeom prst="rect">
            <a:avLst/>
          </a:prstGeom>
          <a:noFill/>
        </p:spPr>
        <p:txBody>
          <a:bodyPr wrap="square" lIns="18288" rIns="18288" tIns="18288" bIns="18288" anchor="t">
            <a:spAutoFit/>
          </a:bodyPr>
          <a:lstStyle/>
          <a:p>
            <a:pPr algn="l">
              <a:spcAft>
                <a:spcPts val="0"/>
              </a:spcAft>
              <a:defRPr sz="819" b="1" i="0">
                <a:solidFill>
                  <a:srgbClr val="A5B4CF"/>
                </a:solidFill>
                <a:latin typeface="Aptos"/>
              </a:defRPr>
            </a:pPr>
            <a:r>
              <a:rPr sz="819" b="1" i="0">
                <a:solidFill>
                  <a:srgbClr val="A5B4CF"/>
                </a:solidFill>
                <a:latin typeface="Aptos"/>
              </a:rPr>
              <a:t>QUEUED</a:t>
            </a:r>
          </a:p>
        </p:txBody>
      </p:sp>
      <p:sp>
        <p:nvSpPr>
          <p:cNvPr id="26" name="TextBox 25"/>
          <p:cNvSpPr txBox="1"/>
          <p:nvPr/>
        </p:nvSpPr>
        <p:spPr>
          <a:xfrm>
            <a:off x="2788920" y="3191256"/>
            <a:ext cx="704088" cy="256032"/>
          </a:xfrm>
          <a:prstGeom prst="rect">
            <a:avLst/>
          </a:prstGeom>
          <a:noFill/>
        </p:spPr>
        <p:txBody>
          <a:bodyPr wrap="square" lIns="18288" rIns="18288" tIns="18288" bIns="18288" anchor="t">
            <a:spAutoFit/>
          </a:bodyPr>
          <a:lstStyle/>
          <a:p>
            <a:pPr algn="l">
              <a:spcAft>
                <a:spcPts val="0"/>
              </a:spcAft>
              <a:defRPr sz="1900" b="1" i="0">
                <a:solidFill>
                  <a:srgbClr val="F4F7FF"/>
                </a:solidFill>
                <a:latin typeface="Aptos"/>
              </a:defRPr>
            </a:pPr>
            <a:r>
              <a:rPr sz="1900" b="1" i="0">
                <a:solidFill>
                  <a:srgbClr val="F4F7FF"/>
                </a:solidFill>
                <a:latin typeface="Aptos"/>
              </a:rPr>
              <a:t>04</a:t>
            </a:r>
          </a:p>
        </p:txBody>
      </p:sp>
      <p:sp>
        <p:nvSpPr>
          <p:cNvPr id="27" name="Oval 26"/>
          <p:cNvSpPr/>
          <p:nvPr/>
        </p:nvSpPr>
        <p:spPr>
          <a:xfrm>
            <a:off x="4169663" y="3044952"/>
            <a:ext cx="173736" cy="173736"/>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0" y="3264408"/>
            <a:ext cx="841248" cy="128016"/>
          </a:xfrm>
          <a:prstGeom prst="rect">
            <a:avLst/>
          </a:prstGeom>
          <a:noFill/>
        </p:spPr>
        <p:txBody>
          <a:bodyPr wrap="square" lIns="18288" rIns="18288" tIns="18288" bIns="18288" anchor="t">
            <a:spAutoFit/>
          </a:bodyPr>
          <a:lstStyle/>
          <a:p>
            <a:pPr algn="r">
              <a:spcAft>
                <a:spcPts val="0"/>
              </a:spcAft>
              <a:defRPr sz="780" b="0" i="0">
                <a:solidFill>
                  <a:srgbClr val="778BAD"/>
                </a:solidFill>
                <a:latin typeface="Aptos"/>
              </a:defRPr>
            </a:pPr>
            <a:r>
              <a:rPr sz="780" b="0" i="0">
                <a:solidFill>
                  <a:srgbClr val="778BAD"/>
                </a:solidFill>
                <a:latin typeface="Aptos"/>
              </a:rPr>
              <a:t>waiting</a:t>
            </a:r>
          </a:p>
        </p:txBody>
      </p:sp>
      <p:sp>
        <p:nvSpPr>
          <p:cNvPr id="29" name="Rounded Rectangle 28"/>
          <p:cNvSpPr/>
          <p:nvPr/>
        </p:nvSpPr>
        <p:spPr>
          <a:xfrm>
            <a:off x="4727448" y="2852928"/>
            <a:ext cx="1865376" cy="786384"/>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64608" y="2990088"/>
            <a:ext cx="1417320" cy="146304"/>
          </a:xfrm>
          <a:prstGeom prst="rect">
            <a:avLst/>
          </a:prstGeom>
          <a:noFill/>
        </p:spPr>
        <p:txBody>
          <a:bodyPr wrap="square" lIns="18288" rIns="18288" tIns="18288" bIns="18288" anchor="t">
            <a:spAutoFit/>
          </a:bodyPr>
          <a:lstStyle/>
          <a:p>
            <a:pPr algn="l">
              <a:spcAft>
                <a:spcPts val="0"/>
              </a:spcAft>
              <a:defRPr sz="819" b="1" i="0">
                <a:solidFill>
                  <a:srgbClr val="A5B4CF"/>
                </a:solidFill>
                <a:latin typeface="Aptos"/>
              </a:defRPr>
            </a:pPr>
            <a:r>
              <a:rPr sz="819" b="1" i="0">
                <a:solidFill>
                  <a:srgbClr val="A5B4CF"/>
                </a:solidFill>
                <a:latin typeface="Aptos"/>
              </a:rPr>
              <a:t>RUNNING</a:t>
            </a:r>
          </a:p>
        </p:txBody>
      </p:sp>
      <p:sp>
        <p:nvSpPr>
          <p:cNvPr id="31" name="TextBox 30"/>
          <p:cNvSpPr txBox="1"/>
          <p:nvPr/>
        </p:nvSpPr>
        <p:spPr>
          <a:xfrm>
            <a:off x="4864608" y="3191256"/>
            <a:ext cx="704088" cy="256032"/>
          </a:xfrm>
          <a:prstGeom prst="rect">
            <a:avLst/>
          </a:prstGeom>
          <a:noFill/>
        </p:spPr>
        <p:txBody>
          <a:bodyPr wrap="square" lIns="18288" rIns="18288" tIns="18288" bIns="18288" anchor="t">
            <a:spAutoFit/>
          </a:bodyPr>
          <a:lstStyle/>
          <a:p>
            <a:pPr algn="l">
              <a:spcAft>
                <a:spcPts val="0"/>
              </a:spcAft>
              <a:defRPr sz="1900" b="1" i="0">
                <a:solidFill>
                  <a:srgbClr val="F4F7FF"/>
                </a:solidFill>
                <a:latin typeface="Aptos"/>
              </a:defRPr>
            </a:pPr>
            <a:r>
              <a:rPr sz="1900" b="1" i="0">
                <a:solidFill>
                  <a:srgbClr val="F4F7FF"/>
                </a:solidFill>
                <a:latin typeface="Aptos"/>
              </a:rPr>
              <a:t>02</a:t>
            </a:r>
          </a:p>
        </p:txBody>
      </p:sp>
      <p:sp>
        <p:nvSpPr>
          <p:cNvPr id="32" name="Oval 31"/>
          <p:cNvSpPr/>
          <p:nvPr/>
        </p:nvSpPr>
        <p:spPr>
          <a:xfrm>
            <a:off x="6245352" y="3044952"/>
            <a:ext cx="173736" cy="173736"/>
          </a:xfrm>
          <a:prstGeom prst="ellips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0408" y="3264408"/>
            <a:ext cx="841248" cy="128016"/>
          </a:xfrm>
          <a:prstGeom prst="rect">
            <a:avLst/>
          </a:prstGeom>
          <a:noFill/>
        </p:spPr>
        <p:txBody>
          <a:bodyPr wrap="square" lIns="18288" rIns="18288" tIns="18288" bIns="18288" anchor="t">
            <a:spAutoFit/>
          </a:bodyPr>
          <a:lstStyle/>
          <a:p>
            <a:pPr algn="r">
              <a:spcAft>
                <a:spcPts val="0"/>
              </a:spcAft>
              <a:defRPr sz="780" b="0" i="0">
                <a:solidFill>
                  <a:srgbClr val="778BAD"/>
                </a:solidFill>
                <a:latin typeface="Aptos"/>
              </a:defRPr>
            </a:pPr>
            <a:r>
              <a:rPr sz="780" b="0" i="0">
                <a:solidFill>
                  <a:srgbClr val="778BAD"/>
                </a:solidFill>
                <a:latin typeface="Aptos"/>
              </a:rPr>
              <a:t>in progress</a:t>
            </a:r>
          </a:p>
        </p:txBody>
      </p:sp>
      <p:sp>
        <p:nvSpPr>
          <p:cNvPr id="34" name="Rounded Rectangle 33"/>
          <p:cNvSpPr/>
          <p:nvPr/>
        </p:nvSpPr>
        <p:spPr>
          <a:xfrm>
            <a:off x="6803136" y="2852928"/>
            <a:ext cx="1865376" cy="786384"/>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0296" y="2990088"/>
            <a:ext cx="1417320" cy="146304"/>
          </a:xfrm>
          <a:prstGeom prst="rect">
            <a:avLst/>
          </a:prstGeom>
          <a:noFill/>
        </p:spPr>
        <p:txBody>
          <a:bodyPr wrap="square" lIns="18288" rIns="18288" tIns="18288" bIns="18288" anchor="t">
            <a:spAutoFit/>
          </a:bodyPr>
          <a:lstStyle/>
          <a:p>
            <a:pPr algn="l">
              <a:spcAft>
                <a:spcPts val="0"/>
              </a:spcAft>
              <a:defRPr sz="819" b="1" i="0">
                <a:solidFill>
                  <a:srgbClr val="A5B4CF"/>
                </a:solidFill>
                <a:latin typeface="Aptos"/>
              </a:defRPr>
            </a:pPr>
            <a:r>
              <a:rPr sz="819" b="1" i="0">
                <a:solidFill>
                  <a:srgbClr val="A5B4CF"/>
                </a:solidFill>
                <a:latin typeface="Aptos"/>
              </a:rPr>
              <a:t>SUCCEEDED</a:t>
            </a:r>
          </a:p>
        </p:txBody>
      </p:sp>
      <p:sp>
        <p:nvSpPr>
          <p:cNvPr id="36" name="TextBox 35"/>
          <p:cNvSpPr txBox="1"/>
          <p:nvPr/>
        </p:nvSpPr>
        <p:spPr>
          <a:xfrm>
            <a:off x="6940296" y="3191256"/>
            <a:ext cx="704088" cy="256032"/>
          </a:xfrm>
          <a:prstGeom prst="rect">
            <a:avLst/>
          </a:prstGeom>
          <a:noFill/>
        </p:spPr>
        <p:txBody>
          <a:bodyPr wrap="square" lIns="18288" rIns="18288" tIns="18288" bIns="18288" anchor="t">
            <a:spAutoFit/>
          </a:bodyPr>
          <a:lstStyle/>
          <a:p>
            <a:pPr algn="l">
              <a:spcAft>
                <a:spcPts val="0"/>
              </a:spcAft>
              <a:defRPr sz="1900" b="1" i="0">
                <a:solidFill>
                  <a:srgbClr val="F4F7FF"/>
                </a:solidFill>
                <a:latin typeface="Aptos"/>
              </a:defRPr>
            </a:pPr>
            <a:r>
              <a:rPr sz="1900" b="1" i="0">
                <a:solidFill>
                  <a:srgbClr val="F4F7FF"/>
                </a:solidFill>
                <a:latin typeface="Aptos"/>
              </a:rPr>
              <a:t>128</a:t>
            </a:r>
          </a:p>
        </p:txBody>
      </p:sp>
      <p:sp>
        <p:nvSpPr>
          <p:cNvPr id="37" name="Oval 36"/>
          <p:cNvSpPr/>
          <p:nvPr/>
        </p:nvSpPr>
        <p:spPr>
          <a:xfrm>
            <a:off x="8321040" y="3044952"/>
            <a:ext cx="173736" cy="173736"/>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26096" y="3264408"/>
            <a:ext cx="841248" cy="128016"/>
          </a:xfrm>
          <a:prstGeom prst="rect">
            <a:avLst/>
          </a:prstGeom>
          <a:noFill/>
        </p:spPr>
        <p:txBody>
          <a:bodyPr wrap="square" lIns="18288" rIns="18288" tIns="18288" bIns="18288" anchor="t">
            <a:spAutoFit/>
          </a:bodyPr>
          <a:lstStyle/>
          <a:p>
            <a:pPr algn="r">
              <a:spcAft>
                <a:spcPts val="0"/>
              </a:spcAft>
              <a:defRPr sz="780" b="0" i="0">
                <a:solidFill>
                  <a:srgbClr val="778BAD"/>
                </a:solidFill>
                <a:latin typeface="Aptos"/>
              </a:defRPr>
            </a:pPr>
            <a:r>
              <a:rPr sz="780" b="0" i="0">
                <a:solidFill>
                  <a:srgbClr val="778BAD"/>
                </a:solidFill>
                <a:latin typeface="Aptos"/>
              </a:rPr>
              <a:t>completed</a:t>
            </a:r>
          </a:p>
        </p:txBody>
      </p:sp>
      <p:sp>
        <p:nvSpPr>
          <p:cNvPr id="39" name="Rounded Rectangle 38"/>
          <p:cNvSpPr/>
          <p:nvPr/>
        </p:nvSpPr>
        <p:spPr>
          <a:xfrm>
            <a:off x="8878824" y="2852928"/>
            <a:ext cx="1865376" cy="786384"/>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15984" y="2990088"/>
            <a:ext cx="1417320" cy="146304"/>
          </a:xfrm>
          <a:prstGeom prst="rect">
            <a:avLst/>
          </a:prstGeom>
          <a:noFill/>
        </p:spPr>
        <p:txBody>
          <a:bodyPr wrap="square" lIns="18288" rIns="18288" tIns="18288" bIns="18288" anchor="t">
            <a:spAutoFit/>
          </a:bodyPr>
          <a:lstStyle/>
          <a:p>
            <a:pPr algn="l">
              <a:spcAft>
                <a:spcPts val="0"/>
              </a:spcAft>
              <a:defRPr sz="819" b="1" i="0">
                <a:solidFill>
                  <a:srgbClr val="A5B4CF"/>
                </a:solidFill>
                <a:latin typeface="Aptos"/>
              </a:defRPr>
            </a:pPr>
            <a:r>
              <a:rPr sz="819" b="1" i="0">
                <a:solidFill>
                  <a:srgbClr val="A5B4CF"/>
                </a:solidFill>
                <a:latin typeface="Aptos"/>
              </a:rPr>
              <a:t>FAILED</a:t>
            </a:r>
          </a:p>
        </p:txBody>
      </p:sp>
      <p:sp>
        <p:nvSpPr>
          <p:cNvPr id="41" name="TextBox 40"/>
          <p:cNvSpPr txBox="1"/>
          <p:nvPr/>
        </p:nvSpPr>
        <p:spPr>
          <a:xfrm>
            <a:off x="9015984" y="3191256"/>
            <a:ext cx="704088" cy="256032"/>
          </a:xfrm>
          <a:prstGeom prst="rect">
            <a:avLst/>
          </a:prstGeom>
          <a:noFill/>
        </p:spPr>
        <p:txBody>
          <a:bodyPr wrap="square" lIns="18288" rIns="18288" tIns="18288" bIns="18288" anchor="t">
            <a:spAutoFit/>
          </a:bodyPr>
          <a:lstStyle/>
          <a:p>
            <a:pPr algn="l">
              <a:spcAft>
                <a:spcPts val="0"/>
              </a:spcAft>
              <a:defRPr sz="1900" b="1" i="0">
                <a:solidFill>
                  <a:srgbClr val="F4F7FF"/>
                </a:solidFill>
                <a:latin typeface="Aptos"/>
              </a:defRPr>
            </a:pPr>
            <a:r>
              <a:rPr sz="1900" b="1" i="0">
                <a:solidFill>
                  <a:srgbClr val="F4F7FF"/>
                </a:solidFill>
                <a:latin typeface="Aptos"/>
              </a:rPr>
              <a:t>03</a:t>
            </a:r>
          </a:p>
        </p:txBody>
      </p:sp>
      <p:sp>
        <p:nvSpPr>
          <p:cNvPr id="42" name="Oval 41"/>
          <p:cNvSpPr/>
          <p:nvPr/>
        </p:nvSpPr>
        <p:spPr>
          <a:xfrm>
            <a:off x="10396728" y="3044952"/>
            <a:ext cx="173736" cy="173736"/>
          </a:xfrm>
          <a:prstGeom prst="ellips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01784" y="3264408"/>
            <a:ext cx="841248" cy="128016"/>
          </a:xfrm>
          <a:prstGeom prst="rect">
            <a:avLst/>
          </a:prstGeom>
          <a:noFill/>
        </p:spPr>
        <p:txBody>
          <a:bodyPr wrap="square" lIns="18288" rIns="18288" tIns="18288" bIns="18288" anchor="t">
            <a:spAutoFit/>
          </a:bodyPr>
          <a:lstStyle/>
          <a:p>
            <a:pPr algn="r">
              <a:spcAft>
                <a:spcPts val="0"/>
              </a:spcAft>
              <a:defRPr sz="780" b="0" i="0">
                <a:solidFill>
                  <a:srgbClr val="778BAD"/>
                </a:solidFill>
                <a:latin typeface="Aptos"/>
              </a:defRPr>
            </a:pPr>
            <a:r>
              <a:rPr sz="780" b="0" i="0">
                <a:solidFill>
                  <a:srgbClr val="778BAD"/>
                </a:solidFill>
                <a:latin typeface="Aptos"/>
              </a:rPr>
              <a:t>needs review</a:t>
            </a:r>
          </a:p>
        </p:txBody>
      </p:sp>
      <p:sp>
        <p:nvSpPr>
          <p:cNvPr id="44" name="Rounded Rectangle 43"/>
          <p:cNvSpPr/>
          <p:nvPr/>
        </p:nvSpPr>
        <p:spPr>
          <a:xfrm>
            <a:off x="2651760" y="3867912"/>
            <a:ext cx="8257031" cy="384048"/>
          </a:xfrm>
          <a:prstGeom prst="roundRect">
            <a:avLst/>
          </a:prstGeom>
          <a:solidFill>
            <a:srgbClr val="1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34640" y="3995928"/>
            <a:ext cx="1298448" cy="118872"/>
          </a:xfrm>
          <a:prstGeom prst="rect">
            <a:avLst/>
          </a:prstGeom>
          <a:noFill/>
        </p:spPr>
        <p:txBody>
          <a:bodyPr wrap="square" lIns="18288" rIns="18288" tIns="18288" bIns="18288" anchor="t">
            <a:spAutoFit/>
          </a:bodyPr>
          <a:lstStyle/>
          <a:p>
            <a:pPr algn="l">
              <a:spcAft>
                <a:spcPts val="0"/>
              </a:spcAft>
              <a:defRPr sz="800" b="1" i="0">
                <a:solidFill>
                  <a:srgbClr val="778BAD"/>
                </a:solidFill>
                <a:latin typeface="Aptos"/>
              </a:defRPr>
            </a:pPr>
            <a:r>
              <a:rPr sz="800" b="1" i="0">
                <a:solidFill>
                  <a:srgbClr val="778BAD"/>
                </a:solidFill>
                <a:latin typeface="Aptos"/>
              </a:rPr>
              <a:t>JOB ID</a:t>
            </a:r>
          </a:p>
        </p:txBody>
      </p:sp>
      <p:sp>
        <p:nvSpPr>
          <p:cNvPr id="46" name="TextBox 45"/>
          <p:cNvSpPr txBox="1"/>
          <p:nvPr/>
        </p:nvSpPr>
        <p:spPr>
          <a:xfrm>
            <a:off x="4315968" y="3995928"/>
            <a:ext cx="1993392" cy="118872"/>
          </a:xfrm>
          <a:prstGeom prst="rect">
            <a:avLst/>
          </a:prstGeom>
          <a:noFill/>
        </p:spPr>
        <p:txBody>
          <a:bodyPr wrap="square" lIns="18288" rIns="18288" tIns="18288" bIns="18288" anchor="t">
            <a:spAutoFit/>
          </a:bodyPr>
          <a:lstStyle/>
          <a:p>
            <a:pPr algn="l">
              <a:spcAft>
                <a:spcPts val="0"/>
              </a:spcAft>
              <a:defRPr sz="800" b="1" i="0">
                <a:solidFill>
                  <a:srgbClr val="778BAD"/>
                </a:solidFill>
                <a:latin typeface="Aptos"/>
              </a:defRPr>
            </a:pPr>
            <a:r>
              <a:rPr sz="800" b="1" i="0">
                <a:solidFill>
                  <a:srgbClr val="778BAD"/>
                </a:solidFill>
                <a:latin typeface="Aptos"/>
              </a:rPr>
              <a:t>TYPE</a:t>
            </a:r>
          </a:p>
        </p:txBody>
      </p:sp>
      <p:sp>
        <p:nvSpPr>
          <p:cNvPr id="47" name="TextBox 46"/>
          <p:cNvSpPr txBox="1"/>
          <p:nvPr/>
        </p:nvSpPr>
        <p:spPr>
          <a:xfrm>
            <a:off x="6446520" y="3995928"/>
            <a:ext cx="1417320" cy="118872"/>
          </a:xfrm>
          <a:prstGeom prst="rect">
            <a:avLst/>
          </a:prstGeom>
          <a:noFill/>
        </p:spPr>
        <p:txBody>
          <a:bodyPr wrap="square" lIns="18288" rIns="18288" tIns="18288" bIns="18288" anchor="t">
            <a:spAutoFit/>
          </a:bodyPr>
          <a:lstStyle/>
          <a:p>
            <a:pPr algn="l">
              <a:spcAft>
                <a:spcPts val="0"/>
              </a:spcAft>
              <a:defRPr sz="800" b="1" i="0">
                <a:solidFill>
                  <a:srgbClr val="778BAD"/>
                </a:solidFill>
                <a:latin typeface="Aptos"/>
              </a:defRPr>
            </a:pPr>
            <a:r>
              <a:rPr sz="800" b="1" i="0">
                <a:solidFill>
                  <a:srgbClr val="778BAD"/>
                </a:solidFill>
                <a:latin typeface="Aptos"/>
              </a:rPr>
              <a:t>STATUS</a:t>
            </a:r>
          </a:p>
        </p:txBody>
      </p:sp>
      <p:sp>
        <p:nvSpPr>
          <p:cNvPr id="48" name="TextBox 47"/>
          <p:cNvSpPr txBox="1"/>
          <p:nvPr/>
        </p:nvSpPr>
        <p:spPr>
          <a:xfrm>
            <a:off x="8028431" y="3995928"/>
            <a:ext cx="941832" cy="118872"/>
          </a:xfrm>
          <a:prstGeom prst="rect">
            <a:avLst/>
          </a:prstGeom>
          <a:noFill/>
        </p:spPr>
        <p:txBody>
          <a:bodyPr wrap="square" lIns="18288" rIns="18288" tIns="18288" bIns="18288" anchor="t">
            <a:spAutoFit/>
          </a:bodyPr>
          <a:lstStyle/>
          <a:p>
            <a:pPr algn="l">
              <a:spcAft>
                <a:spcPts val="0"/>
              </a:spcAft>
              <a:defRPr sz="800" b="1" i="0">
                <a:solidFill>
                  <a:srgbClr val="778BAD"/>
                </a:solidFill>
                <a:latin typeface="Aptos"/>
              </a:defRPr>
            </a:pPr>
            <a:r>
              <a:rPr sz="800" b="1" i="0">
                <a:solidFill>
                  <a:srgbClr val="778BAD"/>
                </a:solidFill>
                <a:latin typeface="Aptos"/>
              </a:rPr>
              <a:t>ATTEMPTS</a:t>
            </a:r>
          </a:p>
        </p:txBody>
      </p:sp>
      <p:sp>
        <p:nvSpPr>
          <p:cNvPr id="49" name="TextBox 48"/>
          <p:cNvSpPr txBox="1"/>
          <p:nvPr/>
        </p:nvSpPr>
        <p:spPr>
          <a:xfrm>
            <a:off x="9235440" y="3995928"/>
            <a:ext cx="1417320" cy="118872"/>
          </a:xfrm>
          <a:prstGeom prst="rect">
            <a:avLst/>
          </a:prstGeom>
          <a:noFill/>
        </p:spPr>
        <p:txBody>
          <a:bodyPr wrap="square" lIns="18288" rIns="18288" tIns="18288" bIns="18288" anchor="t">
            <a:spAutoFit/>
          </a:bodyPr>
          <a:lstStyle/>
          <a:p>
            <a:pPr algn="l">
              <a:spcAft>
                <a:spcPts val="0"/>
              </a:spcAft>
              <a:defRPr sz="800" b="1" i="0">
                <a:solidFill>
                  <a:srgbClr val="778BAD"/>
                </a:solidFill>
                <a:latin typeface="Aptos"/>
              </a:defRPr>
            </a:pPr>
            <a:r>
              <a:rPr sz="800" b="1" i="0">
                <a:solidFill>
                  <a:srgbClr val="778BAD"/>
                </a:solidFill>
                <a:latin typeface="Aptos"/>
              </a:rPr>
              <a:t>UPDATED</a:t>
            </a:r>
          </a:p>
        </p:txBody>
      </p:sp>
      <p:sp>
        <p:nvSpPr>
          <p:cNvPr id="50" name="Rounded Rectangle 49"/>
          <p:cNvSpPr/>
          <p:nvPr/>
        </p:nvSpPr>
        <p:spPr>
          <a:xfrm>
            <a:off x="2651760" y="4288536"/>
            <a:ext cx="8257031" cy="329184"/>
          </a:xfrm>
          <a:prstGeom prst="roundRect">
            <a:avLst/>
          </a:prstGeom>
          <a:solidFill>
            <a:srgbClr val="10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34640" y="4370831"/>
            <a:ext cx="1298448" cy="155448"/>
          </a:xfrm>
          <a:prstGeom prst="rect">
            <a:avLst/>
          </a:prstGeom>
          <a:noFill/>
        </p:spPr>
        <p:txBody>
          <a:bodyPr wrap="square" lIns="18288" rIns="18288" tIns="18288" bIns="18288" anchor="t">
            <a:spAutoFit/>
          </a:bodyPr>
          <a:lstStyle/>
          <a:p>
            <a:pPr algn="l">
              <a:spcAft>
                <a:spcPts val="0"/>
              </a:spcAft>
              <a:defRPr sz="860" b="1" i="0">
                <a:solidFill>
                  <a:srgbClr val="F4F7FF"/>
                </a:solidFill>
                <a:latin typeface="Cascadia Code"/>
              </a:defRPr>
            </a:pPr>
            <a:r>
              <a:rPr sz="860" b="1" i="0">
                <a:solidFill>
                  <a:srgbClr val="F4F7FF"/>
                </a:solidFill>
                <a:latin typeface="Cascadia Code"/>
              </a:rPr>
              <a:t>job_7f21</a:t>
            </a:r>
          </a:p>
        </p:txBody>
      </p:sp>
      <p:sp>
        <p:nvSpPr>
          <p:cNvPr id="52" name="TextBox 51"/>
          <p:cNvSpPr txBox="1"/>
          <p:nvPr/>
        </p:nvSpPr>
        <p:spPr>
          <a:xfrm>
            <a:off x="4315968" y="4370831"/>
            <a:ext cx="199339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report_generation</a:t>
            </a:r>
          </a:p>
        </p:txBody>
      </p:sp>
      <p:sp>
        <p:nvSpPr>
          <p:cNvPr id="53" name="Rounded Rectangle 52"/>
          <p:cNvSpPr/>
          <p:nvPr/>
        </p:nvSpPr>
        <p:spPr>
          <a:xfrm>
            <a:off x="6437376" y="4338828"/>
            <a:ext cx="987552" cy="201168"/>
          </a:xfrm>
          <a:prstGeom prst="round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73952" y="4375404"/>
            <a:ext cx="914400" cy="128016"/>
          </a:xfrm>
          <a:prstGeom prst="rect">
            <a:avLst/>
          </a:prstGeom>
          <a:noFill/>
        </p:spPr>
        <p:txBody>
          <a:bodyPr wrap="square" lIns="0" rIns="0" tIns="0" bIns="0" anchor="ctr">
            <a:spAutoFit/>
          </a:bodyPr>
          <a:lstStyle/>
          <a:p>
            <a:pPr algn="ctr">
              <a:spcAft>
                <a:spcPts val="0"/>
              </a:spcAft>
              <a:defRPr sz="680" b="1" i="0">
                <a:solidFill>
                  <a:srgbClr val="090E1C"/>
                </a:solidFill>
                <a:latin typeface="Aptos"/>
              </a:defRPr>
            </a:pPr>
            <a:r>
              <a:rPr sz="680" b="1" i="0">
                <a:solidFill>
                  <a:srgbClr val="090E1C"/>
                </a:solidFill>
                <a:latin typeface="Aptos"/>
              </a:rPr>
              <a:t>SUCCEEDED</a:t>
            </a:r>
          </a:p>
        </p:txBody>
      </p:sp>
      <p:sp>
        <p:nvSpPr>
          <p:cNvPr id="55" name="TextBox 54"/>
          <p:cNvSpPr txBox="1"/>
          <p:nvPr/>
        </p:nvSpPr>
        <p:spPr>
          <a:xfrm>
            <a:off x="8083296" y="4370831"/>
            <a:ext cx="731520" cy="155448"/>
          </a:xfrm>
          <a:prstGeom prst="rect">
            <a:avLst/>
          </a:prstGeom>
          <a:noFill/>
        </p:spPr>
        <p:txBody>
          <a:bodyPr wrap="square" lIns="18288" rIns="18288" tIns="18288" bIns="18288" anchor="t">
            <a:spAutoFit/>
          </a:bodyPr>
          <a:lstStyle/>
          <a:p>
            <a:pPr algn="l">
              <a:spcAft>
                <a:spcPts val="0"/>
              </a:spcAft>
              <a:defRPr sz="850" b="0" i="0">
                <a:solidFill>
                  <a:srgbClr val="F4F7FF"/>
                </a:solidFill>
                <a:latin typeface="Aptos"/>
              </a:defRPr>
            </a:pPr>
            <a:r>
              <a:rPr sz="850" b="0" i="0">
                <a:solidFill>
                  <a:srgbClr val="F4F7FF"/>
                </a:solidFill>
                <a:latin typeface="Aptos"/>
              </a:rPr>
              <a:t>1 / 3</a:t>
            </a:r>
          </a:p>
        </p:txBody>
      </p:sp>
      <p:sp>
        <p:nvSpPr>
          <p:cNvPr id="56" name="TextBox 55"/>
          <p:cNvSpPr txBox="1"/>
          <p:nvPr/>
        </p:nvSpPr>
        <p:spPr>
          <a:xfrm>
            <a:off x="9235440" y="4370831"/>
            <a:ext cx="135331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10:42:12</a:t>
            </a:r>
          </a:p>
        </p:txBody>
      </p:sp>
      <p:sp>
        <p:nvSpPr>
          <p:cNvPr id="57" name="TextBox 56"/>
          <p:cNvSpPr txBox="1"/>
          <p:nvPr/>
        </p:nvSpPr>
        <p:spPr>
          <a:xfrm>
            <a:off x="2834640" y="4754879"/>
            <a:ext cx="1298448" cy="155448"/>
          </a:xfrm>
          <a:prstGeom prst="rect">
            <a:avLst/>
          </a:prstGeom>
          <a:noFill/>
        </p:spPr>
        <p:txBody>
          <a:bodyPr wrap="square" lIns="18288" rIns="18288" tIns="18288" bIns="18288" anchor="t">
            <a:spAutoFit/>
          </a:bodyPr>
          <a:lstStyle/>
          <a:p>
            <a:pPr algn="l">
              <a:spcAft>
                <a:spcPts val="0"/>
              </a:spcAft>
              <a:defRPr sz="860" b="1" i="0">
                <a:solidFill>
                  <a:srgbClr val="F4F7FF"/>
                </a:solidFill>
                <a:latin typeface="Cascadia Code"/>
              </a:defRPr>
            </a:pPr>
            <a:r>
              <a:rPr sz="860" b="1" i="0">
                <a:solidFill>
                  <a:srgbClr val="F4F7FF"/>
                </a:solidFill>
                <a:latin typeface="Cascadia Code"/>
              </a:rPr>
              <a:t>job_7f20</a:t>
            </a:r>
          </a:p>
        </p:txBody>
      </p:sp>
      <p:sp>
        <p:nvSpPr>
          <p:cNvPr id="58" name="TextBox 57"/>
          <p:cNvSpPr txBox="1"/>
          <p:nvPr/>
        </p:nvSpPr>
        <p:spPr>
          <a:xfrm>
            <a:off x="4315968" y="4754879"/>
            <a:ext cx="199339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thumbnail_render</a:t>
            </a:r>
          </a:p>
        </p:txBody>
      </p:sp>
      <p:sp>
        <p:nvSpPr>
          <p:cNvPr id="59" name="Rounded Rectangle 58"/>
          <p:cNvSpPr/>
          <p:nvPr/>
        </p:nvSpPr>
        <p:spPr>
          <a:xfrm>
            <a:off x="6437376" y="4722876"/>
            <a:ext cx="987552" cy="201168"/>
          </a:xfrm>
          <a:prstGeom prst="round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73952" y="4759452"/>
            <a:ext cx="914400" cy="128016"/>
          </a:xfrm>
          <a:prstGeom prst="rect">
            <a:avLst/>
          </a:prstGeom>
          <a:noFill/>
        </p:spPr>
        <p:txBody>
          <a:bodyPr wrap="square" lIns="0" rIns="0" tIns="0" bIns="0" anchor="ctr">
            <a:spAutoFit/>
          </a:bodyPr>
          <a:lstStyle/>
          <a:p>
            <a:pPr algn="ctr">
              <a:spcAft>
                <a:spcPts val="0"/>
              </a:spcAft>
              <a:defRPr sz="680" b="1" i="0">
                <a:solidFill>
                  <a:srgbClr val="090E1C"/>
                </a:solidFill>
                <a:latin typeface="Aptos"/>
              </a:defRPr>
            </a:pPr>
            <a:r>
              <a:rPr sz="680" b="1" i="0">
                <a:solidFill>
                  <a:srgbClr val="090E1C"/>
                </a:solidFill>
                <a:latin typeface="Aptos"/>
              </a:rPr>
              <a:t>RUNNING</a:t>
            </a:r>
          </a:p>
        </p:txBody>
      </p:sp>
      <p:sp>
        <p:nvSpPr>
          <p:cNvPr id="61" name="TextBox 60"/>
          <p:cNvSpPr txBox="1"/>
          <p:nvPr/>
        </p:nvSpPr>
        <p:spPr>
          <a:xfrm>
            <a:off x="8083296" y="4754879"/>
            <a:ext cx="731520" cy="155448"/>
          </a:xfrm>
          <a:prstGeom prst="rect">
            <a:avLst/>
          </a:prstGeom>
          <a:noFill/>
        </p:spPr>
        <p:txBody>
          <a:bodyPr wrap="square" lIns="18288" rIns="18288" tIns="18288" bIns="18288" anchor="t">
            <a:spAutoFit/>
          </a:bodyPr>
          <a:lstStyle/>
          <a:p>
            <a:pPr algn="l">
              <a:spcAft>
                <a:spcPts val="0"/>
              </a:spcAft>
              <a:defRPr sz="850" b="0" i="0">
                <a:solidFill>
                  <a:srgbClr val="F4F7FF"/>
                </a:solidFill>
                <a:latin typeface="Aptos"/>
              </a:defRPr>
            </a:pPr>
            <a:r>
              <a:rPr sz="850" b="0" i="0">
                <a:solidFill>
                  <a:srgbClr val="F4F7FF"/>
                </a:solidFill>
                <a:latin typeface="Aptos"/>
              </a:rPr>
              <a:t>1 / 3</a:t>
            </a:r>
          </a:p>
        </p:txBody>
      </p:sp>
      <p:sp>
        <p:nvSpPr>
          <p:cNvPr id="62" name="TextBox 61"/>
          <p:cNvSpPr txBox="1"/>
          <p:nvPr/>
        </p:nvSpPr>
        <p:spPr>
          <a:xfrm>
            <a:off x="9235440" y="4754879"/>
            <a:ext cx="135331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10:41:58</a:t>
            </a:r>
          </a:p>
        </p:txBody>
      </p:sp>
      <p:sp>
        <p:nvSpPr>
          <p:cNvPr id="63" name="Rounded Rectangle 62"/>
          <p:cNvSpPr/>
          <p:nvPr/>
        </p:nvSpPr>
        <p:spPr>
          <a:xfrm>
            <a:off x="2651760" y="5056631"/>
            <a:ext cx="8257031" cy="329184"/>
          </a:xfrm>
          <a:prstGeom prst="roundRect">
            <a:avLst/>
          </a:prstGeom>
          <a:solidFill>
            <a:srgbClr val="10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34640" y="5138927"/>
            <a:ext cx="1298448" cy="155448"/>
          </a:xfrm>
          <a:prstGeom prst="rect">
            <a:avLst/>
          </a:prstGeom>
          <a:noFill/>
        </p:spPr>
        <p:txBody>
          <a:bodyPr wrap="square" lIns="18288" rIns="18288" tIns="18288" bIns="18288" anchor="t">
            <a:spAutoFit/>
          </a:bodyPr>
          <a:lstStyle/>
          <a:p>
            <a:pPr algn="l">
              <a:spcAft>
                <a:spcPts val="0"/>
              </a:spcAft>
              <a:defRPr sz="860" b="1" i="0">
                <a:solidFill>
                  <a:srgbClr val="F4F7FF"/>
                </a:solidFill>
                <a:latin typeface="Cascadia Code"/>
              </a:defRPr>
            </a:pPr>
            <a:r>
              <a:rPr sz="860" b="1" i="0">
                <a:solidFill>
                  <a:srgbClr val="F4F7FF"/>
                </a:solidFill>
                <a:latin typeface="Cascadia Code"/>
              </a:rPr>
              <a:t>job_7f19</a:t>
            </a:r>
          </a:p>
        </p:txBody>
      </p:sp>
      <p:sp>
        <p:nvSpPr>
          <p:cNvPr id="65" name="TextBox 64"/>
          <p:cNvSpPr txBox="1"/>
          <p:nvPr/>
        </p:nvSpPr>
        <p:spPr>
          <a:xfrm>
            <a:off x="4315968" y="5138927"/>
            <a:ext cx="199339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data_export</a:t>
            </a:r>
          </a:p>
        </p:txBody>
      </p:sp>
      <p:sp>
        <p:nvSpPr>
          <p:cNvPr id="66" name="Rounded Rectangle 65"/>
          <p:cNvSpPr/>
          <p:nvPr/>
        </p:nvSpPr>
        <p:spPr>
          <a:xfrm>
            <a:off x="6437376" y="5106924"/>
            <a:ext cx="987552" cy="201168"/>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73952" y="5143500"/>
            <a:ext cx="914400" cy="128016"/>
          </a:xfrm>
          <a:prstGeom prst="rect">
            <a:avLst/>
          </a:prstGeom>
          <a:noFill/>
        </p:spPr>
        <p:txBody>
          <a:bodyPr wrap="square" lIns="0" rIns="0" tIns="0" bIns="0" anchor="ctr">
            <a:spAutoFit/>
          </a:bodyPr>
          <a:lstStyle/>
          <a:p>
            <a:pPr algn="ctr">
              <a:spcAft>
                <a:spcPts val="0"/>
              </a:spcAft>
              <a:defRPr sz="680" b="1" i="0">
                <a:solidFill>
                  <a:srgbClr val="090E1C"/>
                </a:solidFill>
                <a:latin typeface="Aptos"/>
              </a:defRPr>
            </a:pPr>
            <a:r>
              <a:rPr sz="680" b="1" i="0">
                <a:solidFill>
                  <a:srgbClr val="090E1C"/>
                </a:solidFill>
                <a:latin typeface="Aptos"/>
              </a:rPr>
              <a:t>QUEUED</a:t>
            </a:r>
          </a:p>
        </p:txBody>
      </p:sp>
      <p:sp>
        <p:nvSpPr>
          <p:cNvPr id="68" name="TextBox 67"/>
          <p:cNvSpPr txBox="1"/>
          <p:nvPr/>
        </p:nvSpPr>
        <p:spPr>
          <a:xfrm>
            <a:off x="8083296" y="5138927"/>
            <a:ext cx="731520" cy="155448"/>
          </a:xfrm>
          <a:prstGeom prst="rect">
            <a:avLst/>
          </a:prstGeom>
          <a:noFill/>
        </p:spPr>
        <p:txBody>
          <a:bodyPr wrap="square" lIns="18288" rIns="18288" tIns="18288" bIns="18288" anchor="t">
            <a:spAutoFit/>
          </a:bodyPr>
          <a:lstStyle/>
          <a:p>
            <a:pPr algn="l">
              <a:spcAft>
                <a:spcPts val="0"/>
              </a:spcAft>
              <a:defRPr sz="850" b="0" i="0">
                <a:solidFill>
                  <a:srgbClr val="F4F7FF"/>
                </a:solidFill>
                <a:latin typeface="Aptos"/>
              </a:defRPr>
            </a:pPr>
            <a:r>
              <a:rPr sz="850" b="0" i="0">
                <a:solidFill>
                  <a:srgbClr val="F4F7FF"/>
                </a:solidFill>
                <a:latin typeface="Aptos"/>
              </a:rPr>
              <a:t>0 / 3</a:t>
            </a:r>
          </a:p>
        </p:txBody>
      </p:sp>
      <p:sp>
        <p:nvSpPr>
          <p:cNvPr id="69" name="TextBox 68"/>
          <p:cNvSpPr txBox="1"/>
          <p:nvPr/>
        </p:nvSpPr>
        <p:spPr>
          <a:xfrm>
            <a:off x="9235440" y="5138927"/>
            <a:ext cx="135331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10:41:40</a:t>
            </a:r>
          </a:p>
        </p:txBody>
      </p:sp>
      <p:sp>
        <p:nvSpPr>
          <p:cNvPr id="70" name="TextBox 69"/>
          <p:cNvSpPr txBox="1"/>
          <p:nvPr/>
        </p:nvSpPr>
        <p:spPr>
          <a:xfrm>
            <a:off x="2834640" y="5522975"/>
            <a:ext cx="1298448" cy="155448"/>
          </a:xfrm>
          <a:prstGeom prst="rect">
            <a:avLst/>
          </a:prstGeom>
          <a:noFill/>
        </p:spPr>
        <p:txBody>
          <a:bodyPr wrap="square" lIns="18288" rIns="18288" tIns="18288" bIns="18288" anchor="t">
            <a:spAutoFit/>
          </a:bodyPr>
          <a:lstStyle/>
          <a:p>
            <a:pPr algn="l">
              <a:spcAft>
                <a:spcPts val="0"/>
              </a:spcAft>
              <a:defRPr sz="860" b="1" i="0">
                <a:solidFill>
                  <a:srgbClr val="F4F7FF"/>
                </a:solidFill>
                <a:latin typeface="Cascadia Code"/>
              </a:defRPr>
            </a:pPr>
            <a:r>
              <a:rPr sz="860" b="1" i="0">
                <a:solidFill>
                  <a:srgbClr val="F4F7FF"/>
                </a:solidFill>
                <a:latin typeface="Cascadia Code"/>
              </a:rPr>
              <a:t>job_7f18</a:t>
            </a:r>
          </a:p>
        </p:txBody>
      </p:sp>
      <p:sp>
        <p:nvSpPr>
          <p:cNvPr id="71" name="TextBox 70"/>
          <p:cNvSpPr txBox="1"/>
          <p:nvPr/>
        </p:nvSpPr>
        <p:spPr>
          <a:xfrm>
            <a:off x="4315968" y="5522975"/>
            <a:ext cx="199339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report_generation</a:t>
            </a:r>
          </a:p>
        </p:txBody>
      </p:sp>
      <p:sp>
        <p:nvSpPr>
          <p:cNvPr id="72" name="Rounded Rectangle 71"/>
          <p:cNvSpPr/>
          <p:nvPr/>
        </p:nvSpPr>
        <p:spPr>
          <a:xfrm>
            <a:off x="6437376" y="5490972"/>
            <a:ext cx="987552" cy="201168"/>
          </a:xfrm>
          <a:prstGeom prst="roundRect">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73952" y="5527548"/>
            <a:ext cx="914400" cy="128016"/>
          </a:xfrm>
          <a:prstGeom prst="rect">
            <a:avLst/>
          </a:prstGeom>
          <a:noFill/>
        </p:spPr>
        <p:txBody>
          <a:bodyPr wrap="square" lIns="0" rIns="0" tIns="0" bIns="0" anchor="ctr">
            <a:spAutoFit/>
          </a:bodyPr>
          <a:lstStyle/>
          <a:p>
            <a:pPr algn="ctr">
              <a:spcAft>
                <a:spcPts val="0"/>
              </a:spcAft>
              <a:defRPr sz="680" b="1" i="0">
                <a:solidFill>
                  <a:srgbClr val="090E1C"/>
                </a:solidFill>
                <a:latin typeface="Aptos"/>
              </a:defRPr>
            </a:pPr>
            <a:r>
              <a:rPr sz="680" b="1" i="0">
                <a:solidFill>
                  <a:srgbClr val="090E1C"/>
                </a:solidFill>
                <a:latin typeface="Aptos"/>
              </a:rPr>
              <a:t>FAILED</a:t>
            </a:r>
          </a:p>
        </p:txBody>
      </p:sp>
      <p:sp>
        <p:nvSpPr>
          <p:cNvPr id="74" name="TextBox 73"/>
          <p:cNvSpPr txBox="1"/>
          <p:nvPr/>
        </p:nvSpPr>
        <p:spPr>
          <a:xfrm>
            <a:off x="8083296" y="5522975"/>
            <a:ext cx="731520" cy="155448"/>
          </a:xfrm>
          <a:prstGeom prst="rect">
            <a:avLst/>
          </a:prstGeom>
          <a:noFill/>
        </p:spPr>
        <p:txBody>
          <a:bodyPr wrap="square" lIns="18288" rIns="18288" tIns="18288" bIns="18288" anchor="t">
            <a:spAutoFit/>
          </a:bodyPr>
          <a:lstStyle/>
          <a:p>
            <a:pPr algn="l">
              <a:spcAft>
                <a:spcPts val="0"/>
              </a:spcAft>
              <a:defRPr sz="850" b="0" i="0">
                <a:solidFill>
                  <a:srgbClr val="F4F7FF"/>
                </a:solidFill>
                <a:latin typeface="Aptos"/>
              </a:defRPr>
            </a:pPr>
            <a:r>
              <a:rPr sz="850" b="0" i="0">
                <a:solidFill>
                  <a:srgbClr val="F4F7FF"/>
                </a:solidFill>
                <a:latin typeface="Aptos"/>
              </a:rPr>
              <a:t>3 / 3</a:t>
            </a:r>
          </a:p>
        </p:txBody>
      </p:sp>
      <p:sp>
        <p:nvSpPr>
          <p:cNvPr id="75" name="TextBox 74"/>
          <p:cNvSpPr txBox="1"/>
          <p:nvPr/>
        </p:nvSpPr>
        <p:spPr>
          <a:xfrm>
            <a:off x="9235440" y="5522975"/>
            <a:ext cx="1353312" cy="155448"/>
          </a:xfrm>
          <a:prstGeom prst="rect">
            <a:avLst/>
          </a:prstGeom>
          <a:noFill/>
        </p:spPr>
        <p:txBody>
          <a:bodyPr wrap="square" lIns="18288" rIns="18288" tIns="18288" bIns="18288" anchor="t">
            <a:spAutoFit/>
          </a:bodyPr>
          <a:lstStyle/>
          <a:p>
            <a:pPr algn="l">
              <a:spcAft>
                <a:spcPts val="0"/>
              </a:spcAft>
              <a:defRPr sz="850" b="0" i="0">
                <a:solidFill>
                  <a:srgbClr val="A5B4CF"/>
                </a:solidFill>
                <a:latin typeface="Aptos"/>
              </a:defRPr>
            </a:pPr>
            <a:r>
              <a:rPr sz="850" b="0" i="0">
                <a:solidFill>
                  <a:srgbClr val="A5B4CF"/>
                </a:solidFill>
                <a:latin typeface="Aptos"/>
              </a:rPr>
              <a:t>10:39:04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07  /  QUALITY &amp; SAFETY</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Prove the happy path—and prove failure is controlled.</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08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08</a:t>
            </a:r>
          </a:p>
        </p:txBody>
      </p:sp>
      <p:sp>
        <p:nvSpPr>
          <p:cNvPr id="10" name="Rounded Rectangle 9"/>
          <p:cNvSpPr/>
          <p:nvPr/>
        </p:nvSpPr>
        <p:spPr>
          <a:xfrm>
            <a:off x="731520" y="1664208"/>
            <a:ext cx="6967728" cy="4379976"/>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01952"/>
            <a:ext cx="22860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ACCEPTANCE TESTS</a:t>
            </a:r>
          </a:p>
        </p:txBody>
      </p:sp>
      <p:sp>
        <p:nvSpPr>
          <p:cNvPr id="12" name="Rounded Rectangle 11"/>
          <p:cNvSpPr/>
          <p:nvPr/>
        </p:nvSpPr>
        <p:spPr>
          <a:xfrm>
            <a:off x="950976" y="2267712"/>
            <a:ext cx="6492240" cy="365760"/>
          </a:xfrm>
          <a:prstGeom prst="roundRect">
            <a:avLst/>
          </a:prstGeom>
          <a:solidFill>
            <a:srgbClr val="1F2F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395728"/>
            <a:ext cx="1463040" cy="109728"/>
          </a:xfrm>
          <a:prstGeom prst="rect">
            <a:avLst/>
          </a:prstGeom>
          <a:noFill/>
        </p:spPr>
        <p:txBody>
          <a:bodyPr wrap="square" lIns="18288" rIns="18288" tIns="18288" bIns="18288" anchor="t">
            <a:spAutoFit/>
          </a:bodyPr>
          <a:lstStyle/>
          <a:p>
            <a:pPr algn="l">
              <a:spcAft>
                <a:spcPts val="0"/>
              </a:spcAft>
              <a:defRPr sz="830" b="1" i="0">
                <a:solidFill>
                  <a:srgbClr val="A5B4CF"/>
                </a:solidFill>
                <a:latin typeface="Aptos"/>
              </a:defRPr>
            </a:pPr>
            <a:r>
              <a:rPr sz="830" b="1" i="0">
                <a:solidFill>
                  <a:srgbClr val="A5B4CF"/>
                </a:solidFill>
                <a:latin typeface="Aptos"/>
              </a:rPr>
              <a:t>SCENARIO</a:t>
            </a:r>
          </a:p>
        </p:txBody>
      </p:sp>
      <p:sp>
        <p:nvSpPr>
          <p:cNvPr id="14" name="TextBox 13"/>
          <p:cNvSpPr txBox="1"/>
          <p:nvPr/>
        </p:nvSpPr>
        <p:spPr>
          <a:xfrm>
            <a:off x="2743200" y="2395728"/>
            <a:ext cx="1828800" cy="109728"/>
          </a:xfrm>
          <a:prstGeom prst="rect">
            <a:avLst/>
          </a:prstGeom>
          <a:noFill/>
        </p:spPr>
        <p:txBody>
          <a:bodyPr wrap="square" lIns="18288" rIns="18288" tIns="18288" bIns="18288" anchor="t">
            <a:spAutoFit/>
          </a:bodyPr>
          <a:lstStyle/>
          <a:p>
            <a:pPr algn="l">
              <a:spcAft>
                <a:spcPts val="0"/>
              </a:spcAft>
              <a:defRPr sz="830" b="1" i="0">
                <a:solidFill>
                  <a:srgbClr val="A5B4CF"/>
                </a:solidFill>
                <a:latin typeface="Aptos"/>
              </a:defRPr>
            </a:pPr>
            <a:r>
              <a:rPr sz="830" b="1" i="0">
                <a:solidFill>
                  <a:srgbClr val="A5B4CF"/>
                </a:solidFill>
                <a:latin typeface="Aptos"/>
              </a:rPr>
              <a:t>ACTION</a:t>
            </a:r>
          </a:p>
        </p:txBody>
      </p:sp>
      <p:sp>
        <p:nvSpPr>
          <p:cNvPr id="15" name="TextBox 14"/>
          <p:cNvSpPr txBox="1"/>
          <p:nvPr/>
        </p:nvSpPr>
        <p:spPr>
          <a:xfrm>
            <a:off x="4681728" y="2395728"/>
            <a:ext cx="2377440" cy="109728"/>
          </a:xfrm>
          <a:prstGeom prst="rect">
            <a:avLst/>
          </a:prstGeom>
          <a:noFill/>
        </p:spPr>
        <p:txBody>
          <a:bodyPr wrap="square" lIns="18288" rIns="18288" tIns="18288" bIns="18288" anchor="t">
            <a:spAutoFit/>
          </a:bodyPr>
          <a:lstStyle/>
          <a:p>
            <a:pPr algn="l">
              <a:spcAft>
                <a:spcPts val="0"/>
              </a:spcAft>
              <a:defRPr sz="830" b="1" i="0">
                <a:solidFill>
                  <a:srgbClr val="A5B4CF"/>
                </a:solidFill>
                <a:latin typeface="Aptos"/>
              </a:defRPr>
            </a:pPr>
            <a:r>
              <a:rPr sz="830" b="1" i="0">
                <a:solidFill>
                  <a:srgbClr val="A5B4CF"/>
                </a:solidFill>
                <a:latin typeface="Aptos"/>
              </a:rPr>
              <a:t>EXPECTED RESULT</a:t>
            </a:r>
          </a:p>
        </p:txBody>
      </p:sp>
      <p:sp>
        <p:nvSpPr>
          <p:cNvPr id="16" name="Rounded Rectangle 15"/>
          <p:cNvSpPr/>
          <p:nvPr/>
        </p:nvSpPr>
        <p:spPr>
          <a:xfrm>
            <a:off x="950976" y="2706624"/>
            <a:ext cx="6492240" cy="47548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2807208"/>
            <a:ext cx="1490472" cy="182880"/>
          </a:xfrm>
          <a:prstGeom prst="rect">
            <a:avLst/>
          </a:prstGeom>
          <a:noFill/>
        </p:spPr>
        <p:txBody>
          <a:bodyPr wrap="square" lIns="18288" rIns="18288" tIns="18288" bIns="18288" anchor="t">
            <a:spAutoFit/>
          </a:bodyPr>
          <a:lstStyle/>
          <a:p>
            <a:pPr algn="l">
              <a:spcAft>
                <a:spcPts val="0"/>
              </a:spcAft>
              <a:defRPr sz="930" b="1" i="0">
                <a:solidFill>
                  <a:srgbClr val="F4F7FF"/>
                </a:solidFill>
                <a:latin typeface="Aptos"/>
              </a:defRPr>
            </a:pPr>
            <a:r>
              <a:rPr sz="930" b="1" i="0">
                <a:solidFill>
                  <a:srgbClr val="F4F7FF"/>
                </a:solidFill>
                <a:latin typeface="Aptos"/>
              </a:rPr>
              <a:t>Happy path</a:t>
            </a:r>
          </a:p>
        </p:txBody>
      </p:sp>
      <p:sp>
        <p:nvSpPr>
          <p:cNvPr id="18" name="TextBox 17"/>
          <p:cNvSpPr txBox="1"/>
          <p:nvPr/>
        </p:nvSpPr>
        <p:spPr>
          <a:xfrm>
            <a:off x="2743200" y="2807208"/>
            <a:ext cx="1792224" cy="26517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Submit a valid job</a:t>
            </a:r>
          </a:p>
        </p:txBody>
      </p:sp>
      <p:sp>
        <p:nvSpPr>
          <p:cNvPr id="19" name="TextBox 18"/>
          <p:cNvSpPr txBox="1"/>
          <p:nvPr/>
        </p:nvSpPr>
        <p:spPr>
          <a:xfrm>
            <a:off x="4681728" y="2807208"/>
            <a:ext cx="2404872" cy="274320"/>
          </a:xfrm>
          <a:prstGeom prst="rect">
            <a:avLst/>
          </a:prstGeom>
          <a:noFill/>
        </p:spPr>
        <p:txBody>
          <a:bodyPr wrap="square" lIns="18288" rIns="18288" tIns="18288" bIns="18288" anchor="t">
            <a:spAutoFit/>
          </a:bodyPr>
          <a:lstStyle/>
          <a:p>
            <a:pPr algn="l">
              <a:spcAft>
                <a:spcPts val="0"/>
              </a:spcAft>
              <a:defRPr sz="880" b="1" i="0">
                <a:solidFill>
                  <a:srgbClr val="6BE6AF"/>
                </a:solidFill>
                <a:latin typeface="Aptos"/>
              </a:defRPr>
            </a:pPr>
            <a:r>
              <a:rPr sz="880" b="1" i="0">
                <a:solidFill>
                  <a:srgbClr val="6BE6AF"/>
                </a:solidFill>
                <a:latin typeface="Aptos"/>
              </a:rPr>
              <a:t>succeeded + result saved</a:t>
            </a:r>
          </a:p>
        </p:txBody>
      </p:sp>
      <p:sp>
        <p:nvSpPr>
          <p:cNvPr id="20" name="TextBox 19"/>
          <p:cNvSpPr txBox="1"/>
          <p:nvPr/>
        </p:nvSpPr>
        <p:spPr>
          <a:xfrm>
            <a:off x="1115568" y="3337560"/>
            <a:ext cx="1490472" cy="182880"/>
          </a:xfrm>
          <a:prstGeom prst="rect">
            <a:avLst/>
          </a:prstGeom>
          <a:noFill/>
        </p:spPr>
        <p:txBody>
          <a:bodyPr wrap="square" lIns="18288" rIns="18288" tIns="18288" bIns="18288" anchor="t">
            <a:spAutoFit/>
          </a:bodyPr>
          <a:lstStyle/>
          <a:p>
            <a:pPr algn="l">
              <a:spcAft>
                <a:spcPts val="0"/>
              </a:spcAft>
              <a:defRPr sz="930" b="1" i="0">
                <a:solidFill>
                  <a:srgbClr val="F4F7FF"/>
                </a:solidFill>
                <a:latin typeface="Aptos"/>
              </a:defRPr>
            </a:pPr>
            <a:r>
              <a:rPr sz="930" b="1" i="0">
                <a:solidFill>
                  <a:srgbClr val="F4F7FF"/>
                </a:solidFill>
                <a:latin typeface="Aptos"/>
              </a:rPr>
              <a:t>Invalid input</a:t>
            </a:r>
          </a:p>
        </p:txBody>
      </p:sp>
      <p:sp>
        <p:nvSpPr>
          <p:cNvPr id="21" name="TextBox 20"/>
          <p:cNvSpPr txBox="1"/>
          <p:nvPr/>
        </p:nvSpPr>
        <p:spPr>
          <a:xfrm>
            <a:off x="2743200" y="3337560"/>
            <a:ext cx="1792224" cy="26517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Send malformed payload</a:t>
            </a:r>
          </a:p>
        </p:txBody>
      </p:sp>
      <p:sp>
        <p:nvSpPr>
          <p:cNvPr id="22" name="TextBox 21"/>
          <p:cNvSpPr txBox="1"/>
          <p:nvPr/>
        </p:nvSpPr>
        <p:spPr>
          <a:xfrm>
            <a:off x="4681728" y="3337560"/>
            <a:ext cx="2404872" cy="274320"/>
          </a:xfrm>
          <a:prstGeom prst="rect">
            <a:avLst/>
          </a:prstGeom>
          <a:noFill/>
        </p:spPr>
        <p:txBody>
          <a:bodyPr wrap="square" lIns="18288" rIns="18288" tIns="18288" bIns="18288" anchor="t">
            <a:spAutoFit/>
          </a:bodyPr>
          <a:lstStyle/>
          <a:p>
            <a:pPr algn="l">
              <a:spcAft>
                <a:spcPts val="0"/>
              </a:spcAft>
              <a:defRPr sz="880" b="1" i="0">
                <a:solidFill>
                  <a:srgbClr val="FF6F8C"/>
                </a:solidFill>
                <a:latin typeface="Aptos"/>
              </a:defRPr>
            </a:pPr>
            <a:r>
              <a:rPr sz="880" b="1" i="0">
                <a:solidFill>
                  <a:srgbClr val="FF6F8C"/>
                </a:solidFill>
                <a:latin typeface="Aptos"/>
              </a:rPr>
              <a:t>4xx; no job created</a:t>
            </a:r>
          </a:p>
        </p:txBody>
      </p:sp>
      <p:sp>
        <p:nvSpPr>
          <p:cNvPr id="23" name="Rounded Rectangle 22"/>
          <p:cNvSpPr/>
          <p:nvPr/>
        </p:nvSpPr>
        <p:spPr>
          <a:xfrm>
            <a:off x="950976" y="3767328"/>
            <a:ext cx="6492240" cy="47548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3867912"/>
            <a:ext cx="1490472" cy="182880"/>
          </a:xfrm>
          <a:prstGeom prst="rect">
            <a:avLst/>
          </a:prstGeom>
          <a:noFill/>
        </p:spPr>
        <p:txBody>
          <a:bodyPr wrap="square" lIns="18288" rIns="18288" tIns="18288" bIns="18288" anchor="t">
            <a:spAutoFit/>
          </a:bodyPr>
          <a:lstStyle/>
          <a:p>
            <a:pPr algn="l">
              <a:spcAft>
                <a:spcPts val="0"/>
              </a:spcAft>
              <a:defRPr sz="930" b="1" i="0">
                <a:solidFill>
                  <a:srgbClr val="F4F7FF"/>
                </a:solidFill>
                <a:latin typeface="Aptos"/>
              </a:defRPr>
            </a:pPr>
            <a:r>
              <a:rPr sz="930" b="1" i="0">
                <a:solidFill>
                  <a:srgbClr val="F4F7FF"/>
                </a:solidFill>
                <a:latin typeface="Aptos"/>
              </a:rPr>
              <a:t>Retryable failure</a:t>
            </a:r>
          </a:p>
        </p:txBody>
      </p:sp>
      <p:sp>
        <p:nvSpPr>
          <p:cNvPr id="25" name="TextBox 24"/>
          <p:cNvSpPr txBox="1"/>
          <p:nvPr/>
        </p:nvSpPr>
        <p:spPr>
          <a:xfrm>
            <a:off x="2743200" y="3867912"/>
            <a:ext cx="1792224" cy="26517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Fail first run only</a:t>
            </a:r>
          </a:p>
        </p:txBody>
      </p:sp>
      <p:sp>
        <p:nvSpPr>
          <p:cNvPr id="26" name="TextBox 25"/>
          <p:cNvSpPr txBox="1"/>
          <p:nvPr/>
        </p:nvSpPr>
        <p:spPr>
          <a:xfrm>
            <a:off x="4681728" y="3867912"/>
            <a:ext cx="2404872" cy="274320"/>
          </a:xfrm>
          <a:prstGeom prst="rect">
            <a:avLst/>
          </a:prstGeom>
          <a:noFill/>
        </p:spPr>
        <p:txBody>
          <a:bodyPr wrap="square" lIns="18288" rIns="18288" tIns="18288" bIns="18288" anchor="t">
            <a:spAutoFit/>
          </a:bodyPr>
          <a:lstStyle/>
          <a:p>
            <a:pPr algn="l">
              <a:spcAft>
                <a:spcPts val="0"/>
              </a:spcAft>
              <a:defRPr sz="880" b="1" i="0">
                <a:solidFill>
                  <a:srgbClr val="FFC25E"/>
                </a:solidFill>
                <a:latin typeface="Aptos"/>
              </a:defRPr>
            </a:pPr>
            <a:r>
              <a:rPr sz="880" b="1" i="0">
                <a:solidFill>
                  <a:srgbClr val="FFC25E"/>
                </a:solidFill>
                <a:latin typeface="Aptos"/>
              </a:rPr>
              <a:t>attempt count increases; later succeeds</a:t>
            </a:r>
          </a:p>
        </p:txBody>
      </p:sp>
      <p:sp>
        <p:nvSpPr>
          <p:cNvPr id="27" name="TextBox 26"/>
          <p:cNvSpPr txBox="1"/>
          <p:nvPr/>
        </p:nvSpPr>
        <p:spPr>
          <a:xfrm>
            <a:off x="1115568" y="4398264"/>
            <a:ext cx="1490472" cy="182880"/>
          </a:xfrm>
          <a:prstGeom prst="rect">
            <a:avLst/>
          </a:prstGeom>
          <a:noFill/>
        </p:spPr>
        <p:txBody>
          <a:bodyPr wrap="square" lIns="18288" rIns="18288" tIns="18288" bIns="18288" anchor="t">
            <a:spAutoFit/>
          </a:bodyPr>
          <a:lstStyle/>
          <a:p>
            <a:pPr algn="l">
              <a:spcAft>
                <a:spcPts val="0"/>
              </a:spcAft>
              <a:defRPr sz="930" b="1" i="0">
                <a:solidFill>
                  <a:srgbClr val="F4F7FF"/>
                </a:solidFill>
                <a:latin typeface="Aptos"/>
              </a:defRPr>
            </a:pPr>
            <a:r>
              <a:rPr sz="930" b="1" i="0">
                <a:solidFill>
                  <a:srgbClr val="F4F7FF"/>
                </a:solidFill>
                <a:latin typeface="Aptos"/>
              </a:rPr>
              <a:t>Retry exhaustion</a:t>
            </a:r>
          </a:p>
        </p:txBody>
      </p:sp>
      <p:sp>
        <p:nvSpPr>
          <p:cNvPr id="28" name="TextBox 27"/>
          <p:cNvSpPr txBox="1"/>
          <p:nvPr/>
        </p:nvSpPr>
        <p:spPr>
          <a:xfrm>
            <a:off x="2743200" y="4398264"/>
            <a:ext cx="1792224" cy="26517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Always fail controlled job</a:t>
            </a:r>
          </a:p>
        </p:txBody>
      </p:sp>
      <p:sp>
        <p:nvSpPr>
          <p:cNvPr id="29" name="TextBox 28"/>
          <p:cNvSpPr txBox="1"/>
          <p:nvPr/>
        </p:nvSpPr>
        <p:spPr>
          <a:xfrm>
            <a:off x="4681728" y="4398264"/>
            <a:ext cx="2404872" cy="274320"/>
          </a:xfrm>
          <a:prstGeom prst="rect">
            <a:avLst/>
          </a:prstGeom>
          <a:noFill/>
        </p:spPr>
        <p:txBody>
          <a:bodyPr wrap="square" lIns="18288" rIns="18288" tIns="18288" bIns="18288" anchor="t">
            <a:spAutoFit/>
          </a:bodyPr>
          <a:lstStyle/>
          <a:p>
            <a:pPr algn="l">
              <a:spcAft>
                <a:spcPts val="0"/>
              </a:spcAft>
              <a:defRPr sz="880" b="1" i="0">
                <a:solidFill>
                  <a:srgbClr val="FF6F8C"/>
                </a:solidFill>
                <a:latin typeface="Aptos"/>
              </a:defRPr>
            </a:pPr>
            <a:r>
              <a:rPr sz="880" b="1" i="0">
                <a:solidFill>
                  <a:srgbClr val="FF6F8C"/>
                </a:solidFill>
                <a:latin typeface="Aptos"/>
              </a:rPr>
              <a:t>failed after max attempts</a:t>
            </a:r>
          </a:p>
        </p:txBody>
      </p:sp>
      <p:sp>
        <p:nvSpPr>
          <p:cNvPr id="30" name="Rounded Rectangle 29"/>
          <p:cNvSpPr/>
          <p:nvPr/>
        </p:nvSpPr>
        <p:spPr>
          <a:xfrm>
            <a:off x="950976" y="4828032"/>
            <a:ext cx="6492240" cy="475488"/>
          </a:xfrm>
          <a:prstGeom prst="roundRect">
            <a:avLst/>
          </a:prstGeom>
          <a:solidFill>
            <a:srgbClr val="14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5568" y="4928616"/>
            <a:ext cx="1490472" cy="182880"/>
          </a:xfrm>
          <a:prstGeom prst="rect">
            <a:avLst/>
          </a:prstGeom>
          <a:noFill/>
        </p:spPr>
        <p:txBody>
          <a:bodyPr wrap="square" lIns="18288" rIns="18288" tIns="18288" bIns="18288" anchor="t">
            <a:spAutoFit/>
          </a:bodyPr>
          <a:lstStyle/>
          <a:p>
            <a:pPr algn="l">
              <a:spcAft>
                <a:spcPts val="0"/>
              </a:spcAft>
              <a:defRPr sz="930" b="1" i="0">
                <a:solidFill>
                  <a:srgbClr val="F4F7FF"/>
                </a:solidFill>
                <a:latin typeface="Aptos"/>
              </a:defRPr>
            </a:pPr>
            <a:r>
              <a:rPr sz="930" b="1" i="0">
                <a:solidFill>
                  <a:srgbClr val="F4F7FF"/>
                </a:solidFill>
                <a:latin typeface="Aptos"/>
              </a:rPr>
              <a:t>Concurrent claim</a:t>
            </a:r>
          </a:p>
        </p:txBody>
      </p:sp>
      <p:sp>
        <p:nvSpPr>
          <p:cNvPr id="32" name="TextBox 31"/>
          <p:cNvSpPr txBox="1"/>
          <p:nvPr/>
        </p:nvSpPr>
        <p:spPr>
          <a:xfrm>
            <a:off x="2743200" y="4928616"/>
            <a:ext cx="1792224" cy="265176"/>
          </a:xfrm>
          <a:prstGeom prst="rect">
            <a:avLst/>
          </a:prstGeom>
          <a:noFill/>
        </p:spPr>
        <p:txBody>
          <a:bodyPr wrap="square" lIns="18288" rIns="18288" tIns="18288" bIns="18288" anchor="t">
            <a:spAutoFit/>
          </a:bodyPr>
          <a:lstStyle/>
          <a:p>
            <a:pPr algn="l">
              <a:spcAft>
                <a:spcPts val="0"/>
              </a:spcAft>
              <a:defRPr sz="900" b="0" i="0">
                <a:solidFill>
                  <a:srgbClr val="A5B4CF"/>
                </a:solidFill>
                <a:latin typeface="Aptos"/>
              </a:defRPr>
            </a:pPr>
            <a:r>
              <a:rPr sz="900" b="0" i="0">
                <a:solidFill>
                  <a:srgbClr val="A5B4CF"/>
                </a:solidFill>
                <a:latin typeface="Aptos"/>
              </a:rPr>
              <a:t>Two workers poll same queue</a:t>
            </a:r>
          </a:p>
        </p:txBody>
      </p:sp>
      <p:sp>
        <p:nvSpPr>
          <p:cNvPr id="33" name="TextBox 32"/>
          <p:cNvSpPr txBox="1"/>
          <p:nvPr/>
        </p:nvSpPr>
        <p:spPr>
          <a:xfrm>
            <a:off x="4681728" y="4928616"/>
            <a:ext cx="2404872" cy="274320"/>
          </a:xfrm>
          <a:prstGeom prst="rect">
            <a:avLst/>
          </a:prstGeom>
          <a:noFill/>
        </p:spPr>
        <p:txBody>
          <a:bodyPr wrap="square" lIns="18288" rIns="18288" tIns="18288" bIns="18288" anchor="t">
            <a:spAutoFit/>
          </a:bodyPr>
          <a:lstStyle/>
          <a:p>
            <a:pPr algn="l">
              <a:spcAft>
                <a:spcPts val="0"/>
              </a:spcAft>
              <a:defRPr sz="880" b="1" i="0">
                <a:solidFill>
                  <a:srgbClr val="B08BFF"/>
                </a:solidFill>
                <a:latin typeface="Aptos"/>
              </a:defRPr>
            </a:pPr>
            <a:r>
              <a:rPr sz="880" b="1" i="0">
                <a:solidFill>
                  <a:srgbClr val="B08BFF"/>
                </a:solidFill>
                <a:latin typeface="Aptos"/>
              </a:rPr>
              <a:t>only one claim wins</a:t>
            </a:r>
          </a:p>
        </p:txBody>
      </p:sp>
      <p:sp>
        <p:nvSpPr>
          <p:cNvPr id="34" name="Rounded Rectangle 33"/>
          <p:cNvSpPr/>
          <p:nvPr/>
        </p:nvSpPr>
        <p:spPr>
          <a:xfrm>
            <a:off x="7955279" y="1664208"/>
            <a:ext cx="3493008" cy="4379976"/>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11312" y="1901952"/>
            <a:ext cx="1920240" cy="201168"/>
          </a:xfrm>
          <a:prstGeom prst="rect">
            <a:avLst/>
          </a:prstGeom>
          <a:noFill/>
        </p:spPr>
        <p:txBody>
          <a:bodyPr wrap="square" lIns="18288" rIns="18288" tIns="18288" bIns="18288" anchor="t">
            <a:spAutoFit/>
          </a:bodyPr>
          <a:lstStyle/>
          <a:p>
            <a:pPr algn="l">
              <a:spcAft>
                <a:spcPts val="0"/>
              </a:spcAft>
              <a:defRPr sz="900" b="1" i="0">
                <a:solidFill>
                  <a:srgbClr val="FFC25E"/>
                </a:solidFill>
                <a:latin typeface="Aptos"/>
              </a:defRPr>
            </a:pPr>
            <a:r>
              <a:rPr sz="900" b="1" i="0" spc="80">
                <a:solidFill>
                  <a:srgbClr val="FFC25E"/>
                </a:solidFill>
                <a:latin typeface="Aptos"/>
              </a:rPr>
              <a:t>GUARDRAILS</a:t>
            </a:r>
          </a:p>
        </p:txBody>
      </p:sp>
      <p:sp>
        <p:nvSpPr>
          <p:cNvPr id="36" name="Oval 35"/>
          <p:cNvSpPr/>
          <p:nvPr/>
        </p:nvSpPr>
        <p:spPr>
          <a:xfrm>
            <a:off x="8220456" y="2304288"/>
            <a:ext cx="164592" cy="164592"/>
          </a:xfrm>
          <a:prstGeom prst="ellips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85632" y="2286000"/>
            <a:ext cx="2532888" cy="182880"/>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Allowlist job types</a:t>
            </a:r>
          </a:p>
        </p:txBody>
      </p:sp>
      <p:sp>
        <p:nvSpPr>
          <p:cNvPr id="38" name="TextBox 37"/>
          <p:cNvSpPr txBox="1"/>
          <p:nvPr/>
        </p:nvSpPr>
        <p:spPr>
          <a:xfrm>
            <a:off x="8485632" y="2532888"/>
            <a:ext cx="2606040" cy="292608"/>
          </a:xfrm>
          <a:prstGeom prst="rect">
            <a:avLst/>
          </a:prstGeom>
          <a:noFill/>
        </p:spPr>
        <p:txBody>
          <a:bodyPr wrap="square" lIns="18288" rIns="18288" tIns="18288" bIns="18288" anchor="t">
            <a:spAutoFit/>
          </a:bodyPr>
          <a:lstStyle/>
          <a:p>
            <a:pPr algn="l">
              <a:spcAft>
                <a:spcPts val="0"/>
              </a:spcAft>
              <a:defRPr sz="860" b="0" i="0">
                <a:solidFill>
                  <a:srgbClr val="A5B4CF"/>
                </a:solidFill>
                <a:latin typeface="Aptos"/>
              </a:defRPr>
            </a:pPr>
            <a:r>
              <a:rPr sz="860" b="0" i="0">
                <a:solidFill>
                  <a:srgbClr val="A5B4CF"/>
                </a:solidFill>
                <a:latin typeface="Aptos"/>
              </a:rPr>
              <a:t>Never execute arbitrary submitted code.</a:t>
            </a:r>
          </a:p>
        </p:txBody>
      </p:sp>
      <p:sp>
        <p:nvSpPr>
          <p:cNvPr id="39" name="Oval 38"/>
          <p:cNvSpPr/>
          <p:nvPr/>
        </p:nvSpPr>
        <p:spPr>
          <a:xfrm>
            <a:off x="8220456" y="2980944"/>
            <a:ext cx="164592" cy="164592"/>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85632" y="2962656"/>
            <a:ext cx="2532888" cy="182880"/>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Validate payloads</a:t>
            </a:r>
          </a:p>
        </p:txBody>
      </p:sp>
      <p:sp>
        <p:nvSpPr>
          <p:cNvPr id="41" name="TextBox 40"/>
          <p:cNvSpPr txBox="1"/>
          <p:nvPr/>
        </p:nvSpPr>
        <p:spPr>
          <a:xfrm>
            <a:off x="8485632" y="3209544"/>
            <a:ext cx="2606040" cy="292608"/>
          </a:xfrm>
          <a:prstGeom prst="rect">
            <a:avLst/>
          </a:prstGeom>
          <a:noFill/>
        </p:spPr>
        <p:txBody>
          <a:bodyPr wrap="square" lIns="18288" rIns="18288" tIns="18288" bIns="18288" anchor="t">
            <a:spAutoFit/>
          </a:bodyPr>
          <a:lstStyle/>
          <a:p>
            <a:pPr algn="l">
              <a:spcAft>
                <a:spcPts val="0"/>
              </a:spcAft>
              <a:defRPr sz="860" b="0" i="0">
                <a:solidFill>
                  <a:srgbClr val="A5B4CF"/>
                </a:solidFill>
                <a:latin typeface="Aptos"/>
              </a:defRPr>
            </a:pPr>
            <a:r>
              <a:rPr sz="860" b="0" i="0">
                <a:solidFill>
                  <a:srgbClr val="A5B4CF"/>
                </a:solidFill>
                <a:latin typeface="Aptos"/>
              </a:rPr>
              <a:t>Check shape, required fields, and size.</a:t>
            </a:r>
          </a:p>
        </p:txBody>
      </p:sp>
      <p:sp>
        <p:nvSpPr>
          <p:cNvPr id="42" name="Oval 41"/>
          <p:cNvSpPr/>
          <p:nvPr/>
        </p:nvSpPr>
        <p:spPr>
          <a:xfrm>
            <a:off x="8220456" y="3657600"/>
            <a:ext cx="164592" cy="164592"/>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85632" y="3639312"/>
            <a:ext cx="2532888" cy="182880"/>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Sanitize errors</a:t>
            </a:r>
          </a:p>
        </p:txBody>
      </p:sp>
      <p:sp>
        <p:nvSpPr>
          <p:cNvPr id="44" name="TextBox 43"/>
          <p:cNvSpPr txBox="1"/>
          <p:nvPr/>
        </p:nvSpPr>
        <p:spPr>
          <a:xfrm>
            <a:off x="8485632" y="3886200"/>
            <a:ext cx="2606040" cy="292608"/>
          </a:xfrm>
          <a:prstGeom prst="rect">
            <a:avLst/>
          </a:prstGeom>
          <a:noFill/>
        </p:spPr>
        <p:txBody>
          <a:bodyPr wrap="square" lIns="18288" rIns="18288" tIns="18288" bIns="18288" anchor="t">
            <a:spAutoFit/>
          </a:bodyPr>
          <a:lstStyle/>
          <a:p>
            <a:pPr algn="l">
              <a:spcAft>
                <a:spcPts val="0"/>
              </a:spcAft>
              <a:defRPr sz="860" b="0" i="0">
                <a:solidFill>
                  <a:srgbClr val="A5B4CF"/>
                </a:solidFill>
                <a:latin typeface="Aptos"/>
              </a:defRPr>
            </a:pPr>
            <a:r>
              <a:rPr sz="860" b="0" i="0">
                <a:solidFill>
                  <a:srgbClr val="A5B4CF"/>
                </a:solidFill>
                <a:latin typeface="Aptos"/>
              </a:rPr>
              <a:t>Do not leak secrets or stack traces.</a:t>
            </a:r>
          </a:p>
        </p:txBody>
      </p:sp>
      <p:sp>
        <p:nvSpPr>
          <p:cNvPr id="45" name="Oval 44"/>
          <p:cNvSpPr/>
          <p:nvPr/>
        </p:nvSpPr>
        <p:spPr>
          <a:xfrm>
            <a:off x="8220456" y="4334255"/>
            <a:ext cx="164592" cy="164592"/>
          </a:xfrm>
          <a:prstGeom prst="ellipse">
            <a:avLst/>
          </a:prstGeom>
          <a:solidFill>
            <a:srgbClr val="FF6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85632" y="4315968"/>
            <a:ext cx="2532888" cy="182880"/>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Bound work</a:t>
            </a:r>
          </a:p>
        </p:txBody>
      </p:sp>
      <p:sp>
        <p:nvSpPr>
          <p:cNvPr id="47" name="TextBox 46"/>
          <p:cNvSpPr txBox="1"/>
          <p:nvPr/>
        </p:nvSpPr>
        <p:spPr>
          <a:xfrm>
            <a:off x="8485632" y="4562856"/>
            <a:ext cx="2606040" cy="292608"/>
          </a:xfrm>
          <a:prstGeom prst="rect">
            <a:avLst/>
          </a:prstGeom>
          <a:noFill/>
        </p:spPr>
        <p:txBody>
          <a:bodyPr wrap="square" lIns="18288" rIns="18288" tIns="18288" bIns="18288" anchor="t">
            <a:spAutoFit/>
          </a:bodyPr>
          <a:lstStyle/>
          <a:p>
            <a:pPr algn="l">
              <a:spcAft>
                <a:spcPts val="0"/>
              </a:spcAft>
              <a:defRPr sz="860" b="0" i="0">
                <a:solidFill>
                  <a:srgbClr val="A5B4CF"/>
                </a:solidFill>
                <a:latin typeface="Aptos"/>
              </a:defRPr>
            </a:pPr>
            <a:r>
              <a:rPr sz="860" b="0" i="0">
                <a:solidFill>
                  <a:srgbClr val="A5B4CF"/>
                </a:solidFill>
                <a:latin typeface="Aptos"/>
              </a:rPr>
              <a:t>Set attempt limits and task timeouts.</a:t>
            </a:r>
          </a:p>
        </p:txBody>
      </p:sp>
      <p:sp>
        <p:nvSpPr>
          <p:cNvPr id="48" name="Oval 47"/>
          <p:cNvSpPr/>
          <p:nvPr/>
        </p:nvSpPr>
        <p:spPr>
          <a:xfrm>
            <a:off x="8220456" y="5010912"/>
            <a:ext cx="164592" cy="164592"/>
          </a:xfrm>
          <a:prstGeom prst="ellips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85632" y="4992624"/>
            <a:ext cx="2532888" cy="182880"/>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Protect state</a:t>
            </a:r>
          </a:p>
        </p:txBody>
      </p:sp>
      <p:sp>
        <p:nvSpPr>
          <p:cNvPr id="50" name="TextBox 49"/>
          <p:cNvSpPr txBox="1"/>
          <p:nvPr/>
        </p:nvSpPr>
        <p:spPr>
          <a:xfrm>
            <a:off x="8485632" y="5239512"/>
            <a:ext cx="2606040" cy="292608"/>
          </a:xfrm>
          <a:prstGeom prst="rect">
            <a:avLst/>
          </a:prstGeom>
          <a:noFill/>
        </p:spPr>
        <p:txBody>
          <a:bodyPr wrap="square" lIns="18288" rIns="18288" tIns="18288" bIns="18288" anchor="t">
            <a:spAutoFit/>
          </a:bodyPr>
          <a:lstStyle/>
          <a:p>
            <a:pPr algn="l">
              <a:spcAft>
                <a:spcPts val="0"/>
              </a:spcAft>
              <a:defRPr sz="860" b="0" i="0">
                <a:solidFill>
                  <a:srgbClr val="A5B4CF"/>
                </a:solidFill>
                <a:latin typeface="Aptos"/>
              </a:defRPr>
            </a:pPr>
            <a:r>
              <a:rPr sz="860" b="0" i="0">
                <a:solidFill>
                  <a:srgbClr val="A5B4CF"/>
                </a:solidFill>
                <a:latin typeface="Aptos"/>
              </a:rPr>
              <a:t>Use atomic job claims and safe updates.</a:t>
            </a:r>
          </a:p>
        </p:txBody>
      </p:sp>
      <p:sp>
        <p:nvSpPr>
          <p:cNvPr id="51" name="Rounded Rectangle 50"/>
          <p:cNvSpPr/>
          <p:nvPr/>
        </p:nvSpPr>
        <p:spPr>
          <a:xfrm>
            <a:off x="758952" y="6181344"/>
            <a:ext cx="10671048" cy="164592"/>
          </a:xfrm>
          <a:prstGeom prst="roundRect">
            <a:avLst/>
          </a:prstGeom>
          <a:solidFill>
            <a:srgbClr val="1D2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6208776"/>
            <a:ext cx="10287000" cy="109728"/>
          </a:xfrm>
          <a:prstGeom prst="rect">
            <a:avLst/>
          </a:prstGeom>
          <a:noFill/>
        </p:spPr>
        <p:txBody>
          <a:bodyPr wrap="square" lIns="18288" rIns="18288" tIns="18288" bIns="18288" anchor="t">
            <a:spAutoFit/>
          </a:bodyPr>
          <a:lstStyle/>
          <a:p>
            <a:pPr algn="ctr">
              <a:spcAft>
                <a:spcPts val="0"/>
              </a:spcAft>
              <a:defRPr sz="840" b="1" i="0">
                <a:solidFill>
                  <a:srgbClr val="F4F7FF"/>
                </a:solidFill>
                <a:latin typeface="Aptos"/>
              </a:defRPr>
            </a:pPr>
            <a:r>
              <a:rPr sz="840" b="1" i="0">
                <a:solidFill>
                  <a:srgbClr val="F4F7FF"/>
                </a:solidFill>
                <a:latin typeface="Aptos"/>
              </a:rPr>
              <a:t>Pass bar: one end-to-end success, one verified failure path, clean validation, and repeatable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08  /  BUILD &amp; DELIVERY</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Build the smallest complete system before scaling it.</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09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09</a:t>
            </a:r>
          </a:p>
        </p:txBody>
      </p:sp>
      <p:sp>
        <p:nvSpPr>
          <p:cNvPr id="10" name="Rounded Rectangle 9"/>
          <p:cNvSpPr/>
          <p:nvPr/>
        </p:nvSpPr>
        <p:spPr>
          <a:xfrm>
            <a:off x="749808" y="1645920"/>
            <a:ext cx="10671048" cy="768096"/>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847088"/>
            <a:ext cx="2057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RECOMMENDED MVP STACK</a:t>
            </a:r>
          </a:p>
        </p:txBody>
      </p:sp>
      <p:sp>
        <p:nvSpPr>
          <p:cNvPr id="12" name="Oval 11"/>
          <p:cNvSpPr/>
          <p:nvPr/>
        </p:nvSpPr>
        <p:spPr>
          <a:xfrm>
            <a:off x="3154680" y="1920240"/>
            <a:ext cx="137160" cy="137160"/>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4136" y="1819656"/>
            <a:ext cx="612648" cy="155448"/>
          </a:xfrm>
          <a:prstGeom prst="rect">
            <a:avLst/>
          </a:prstGeom>
          <a:noFill/>
        </p:spPr>
        <p:txBody>
          <a:bodyPr wrap="square" lIns="18288" rIns="18288" tIns="18288" bIns="18288" anchor="t">
            <a:spAutoFit/>
          </a:bodyPr>
          <a:lstStyle/>
          <a:p>
            <a:pPr algn="l">
              <a:spcAft>
                <a:spcPts val="0"/>
              </a:spcAft>
              <a:defRPr sz="850" b="1" i="0">
                <a:solidFill>
                  <a:srgbClr val="5D7FFF"/>
                </a:solidFill>
                <a:latin typeface="Aptos"/>
              </a:defRPr>
            </a:pPr>
            <a:r>
              <a:rPr sz="850" b="1" i="0">
                <a:solidFill>
                  <a:srgbClr val="5D7FFF"/>
                </a:solidFill>
                <a:latin typeface="Aptos"/>
              </a:rPr>
              <a:t>UI</a:t>
            </a:r>
          </a:p>
        </p:txBody>
      </p:sp>
      <p:sp>
        <p:nvSpPr>
          <p:cNvPr id="14" name="TextBox 13"/>
          <p:cNvSpPr txBox="1"/>
          <p:nvPr/>
        </p:nvSpPr>
        <p:spPr>
          <a:xfrm>
            <a:off x="3374136" y="2002536"/>
            <a:ext cx="1600200" cy="182880"/>
          </a:xfrm>
          <a:prstGeom prst="rect">
            <a:avLst/>
          </a:prstGeom>
          <a:noFill/>
        </p:spPr>
        <p:txBody>
          <a:bodyPr wrap="square" lIns="18288" rIns="18288" tIns="18288" bIns="18288" anchor="t">
            <a:spAutoFit/>
          </a:bodyPr>
          <a:lstStyle/>
          <a:p>
            <a:pPr algn="l">
              <a:spcAft>
                <a:spcPts val="0"/>
              </a:spcAft>
              <a:defRPr sz="840" b="1" i="0">
                <a:solidFill>
                  <a:srgbClr val="F4F7FF"/>
                </a:solidFill>
                <a:latin typeface="Aptos"/>
              </a:defRPr>
            </a:pPr>
            <a:r>
              <a:rPr sz="840" b="1" i="0">
                <a:solidFill>
                  <a:srgbClr val="F4F7FF"/>
                </a:solidFill>
                <a:latin typeface="Aptos"/>
              </a:rPr>
              <a:t>Plain HTML/JS or React</a:t>
            </a:r>
          </a:p>
        </p:txBody>
      </p:sp>
      <p:sp>
        <p:nvSpPr>
          <p:cNvPr id="15" name="Oval 14"/>
          <p:cNvSpPr/>
          <p:nvPr/>
        </p:nvSpPr>
        <p:spPr>
          <a:xfrm>
            <a:off x="5138928" y="1920240"/>
            <a:ext cx="137160" cy="137160"/>
          </a:xfrm>
          <a:prstGeom prst="ellips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58384" y="1819656"/>
            <a:ext cx="612648" cy="155448"/>
          </a:xfrm>
          <a:prstGeom prst="rect">
            <a:avLst/>
          </a:prstGeom>
          <a:noFill/>
        </p:spPr>
        <p:txBody>
          <a:bodyPr wrap="square" lIns="18288" rIns="18288" tIns="18288" bIns="18288" anchor="t">
            <a:spAutoFit/>
          </a:bodyPr>
          <a:lstStyle/>
          <a:p>
            <a:pPr algn="l">
              <a:spcAft>
                <a:spcPts val="0"/>
              </a:spcAft>
              <a:defRPr sz="850" b="1" i="0">
                <a:solidFill>
                  <a:srgbClr val="3DE0D6"/>
                </a:solidFill>
                <a:latin typeface="Aptos"/>
              </a:defRPr>
            </a:pPr>
            <a:r>
              <a:rPr sz="850" b="1" i="0">
                <a:solidFill>
                  <a:srgbClr val="3DE0D6"/>
                </a:solidFill>
                <a:latin typeface="Aptos"/>
              </a:rPr>
              <a:t>API</a:t>
            </a:r>
          </a:p>
        </p:txBody>
      </p:sp>
      <p:sp>
        <p:nvSpPr>
          <p:cNvPr id="17" name="TextBox 16"/>
          <p:cNvSpPr txBox="1"/>
          <p:nvPr/>
        </p:nvSpPr>
        <p:spPr>
          <a:xfrm>
            <a:off x="5358384" y="2002536"/>
            <a:ext cx="1600200" cy="182880"/>
          </a:xfrm>
          <a:prstGeom prst="rect">
            <a:avLst/>
          </a:prstGeom>
          <a:noFill/>
        </p:spPr>
        <p:txBody>
          <a:bodyPr wrap="square" lIns="18288" rIns="18288" tIns="18288" bIns="18288" anchor="t">
            <a:spAutoFit/>
          </a:bodyPr>
          <a:lstStyle/>
          <a:p>
            <a:pPr algn="l">
              <a:spcAft>
                <a:spcPts val="0"/>
              </a:spcAft>
              <a:defRPr sz="840" b="1" i="0">
                <a:solidFill>
                  <a:srgbClr val="F4F7FF"/>
                </a:solidFill>
                <a:latin typeface="Aptos"/>
              </a:defRPr>
            </a:pPr>
            <a:r>
              <a:rPr sz="840" b="1" i="0">
                <a:solidFill>
                  <a:srgbClr val="F4F7FF"/>
                </a:solidFill>
                <a:latin typeface="Aptos"/>
              </a:rPr>
              <a:t>Python + FastAPI</a:t>
            </a:r>
          </a:p>
        </p:txBody>
      </p:sp>
      <p:sp>
        <p:nvSpPr>
          <p:cNvPr id="18" name="Oval 17"/>
          <p:cNvSpPr/>
          <p:nvPr/>
        </p:nvSpPr>
        <p:spPr>
          <a:xfrm>
            <a:off x="7123176" y="1920240"/>
            <a:ext cx="137160" cy="137160"/>
          </a:xfrm>
          <a:prstGeom prst="ellips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2631" y="1819656"/>
            <a:ext cx="612648" cy="155448"/>
          </a:xfrm>
          <a:prstGeom prst="rect">
            <a:avLst/>
          </a:prstGeom>
          <a:noFill/>
        </p:spPr>
        <p:txBody>
          <a:bodyPr wrap="square" lIns="18288" rIns="18288" tIns="18288" bIns="18288" anchor="t">
            <a:spAutoFit/>
          </a:bodyPr>
          <a:lstStyle/>
          <a:p>
            <a:pPr algn="l">
              <a:spcAft>
                <a:spcPts val="0"/>
              </a:spcAft>
              <a:defRPr sz="850" b="1" i="0">
                <a:solidFill>
                  <a:srgbClr val="B08BFF"/>
                </a:solidFill>
                <a:latin typeface="Aptos"/>
              </a:defRPr>
            </a:pPr>
            <a:r>
              <a:rPr sz="850" b="1" i="0">
                <a:solidFill>
                  <a:srgbClr val="B08BFF"/>
                </a:solidFill>
                <a:latin typeface="Aptos"/>
              </a:rPr>
              <a:t>DATA</a:t>
            </a:r>
          </a:p>
        </p:txBody>
      </p:sp>
      <p:sp>
        <p:nvSpPr>
          <p:cNvPr id="20" name="TextBox 19"/>
          <p:cNvSpPr txBox="1"/>
          <p:nvPr/>
        </p:nvSpPr>
        <p:spPr>
          <a:xfrm>
            <a:off x="7342631" y="2002536"/>
            <a:ext cx="1600200" cy="182880"/>
          </a:xfrm>
          <a:prstGeom prst="rect">
            <a:avLst/>
          </a:prstGeom>
          <a:noFill/>
        </p:spPr>
        <p:txBody>
          <a:bodyPr wrap="square" lIns="18288" rIns="18288" tIns="18288" bIns="18288" anchor="t">
            <a:spAutoFit/>
          </a:bodyPr>
          <a:lstStyle/>
          <a:p>
            <a:pPr algn="l">
              <a:spcAft>
                <a:spcPts val="0"/>
              </a:spcAft>
              <a:defRPr sz="840" b="1" i="0">
                <a:solidFill>
                  <a:srgbClr val="F4F7FF"/>
                </a:solidFill>
                <a:latin typeface="Aptos"/>
              </a:defRPr>
            </a:pPr>
            <a:r>
              <a:rPr sz="840" b="1" i="0">
                <a:solidFill>
                  <a:srgbClr val="F4F7FF"/>
                </a:solidFill>
                <a:latin typeface="Aptos"/>
              </a:rPr>
              <a:t>SQLite local → PostgreSQL hosted</a:t>
            </a:r>
          </a:p>
        </p:txBody>
      </p:sp>
      <p:sp>
        <p:nvSpPr>
          <p:cNvPr id="21" name="Oval 20"/>
          <p:cNvSpPr/>
          <p:nvPr/>
        </p:nvSpPr>
        <p:spPr>
          <a:xfrm>
            <a:off x="9107424" y="1920240"/>
            <a:ext cx="137160" cy="137160"/>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1819656"/>
            <a:ext cx="612648" cy="155448"/>
          </a:xfrm>
          <a:prstGeom prst="rect">
            <a:avLst/>
          </a:prstGeom>
          <a:noFill/>
        </p:spPr>
        <p:txBody>
          <a:bodyPr wrap="square" lIns="18288" rIns="18288" tIns="18288" bIns="18288" anchor="t">
            <a:spAutoFit/>
          </a:bodyPr>
          <a:lstStyle/>
          <a:p>
            <a:pPr algn="l">
              <a:spcAft>
                <a:spcPts val="0"/>
              </a:spcAft>
              <a:defRPr sz="850" b="1" i="0">
                <a:solidFill>
                  <a:srgbClr val="FFC25E"/>
                </a:solidFill>
                <a:latin typeface="Aptos"/>
              </a:defRPr>
            </a:pPr>
            <a:r>
              <a:rPr sz="850" b="1" i="0">
                <a:solidFill>
                  <a:srgbClr val="FFC25E"/>
                </a:solidFill>
                <a:latin typeface="Aptos"/>
              </a:rPr>
              <a:t>WORKER</a:t>
            </a:r>
          </a:p>
        </p:txBody>
      </p:sp>
      <p:sp>
        <p:nvSpPr>
          <p:cNvPr id="23" name="TextBox 22"/>
          <p:cNvSpPr txBox="1"/>
          <p:nvPr/>
        </p:nvSpPr>
        <p:spPr>
          <a:xfrm>
            <a:off x="9326880" y="2002536"/>
            <a:ext cx="1600200" cy="182880"/>
          </a:xfrm>
          <a:prstGeom prst="rect">
            <a:avLst/>
          </a:prstGeom>
          <a:noFill/>
        </p:spPr>
        <p:txBody>
          <a:bodyPr wrap="square" lIns="18288" rIns="18288" tIns="18288" bIns="18288" anchor="t">
            <a:spAutoFit/>
          </a:bodyPr>
          <a:lstStyle/>
          <a:p>
            <a:pPr algn="l">
              <a:spcAft>
                <a:spcPts val="0"/>
              </a:spcAft>
              <a:defRPr sz="840" b="1" i="0">
                <a:solidFill>
                  <a:srgbClr val="F4F7FF"/>
                </a:solidFill>
                <a:latin typeface="Aptos"/>
              </a:defRPr>
            </a:pPr>
            <a:r>
              <a:rPr sz="840" b="1" i="0">
                <a:solidFill>
                  <a:srgbClr val="F4F7FF"/>
                </a:solidFill>
                <a:latin typeface="Aptos"/>
              </a:rPr>
              <a:t>Separate Python process</a:t>
            </a:r>
          </a:p>
        </p:txBody>
      </p:sp>
      <p:sp>
        <p:nvSpPr>
          <p:cNvPr id="24" name="TextBox 23"/>
          <p:cNvSpPr txBox="1"/>
          <p:nvPr/>
        </p:nvSpPr>
        <p:spPr>
          <a:xfrm>
            <a:off x="786384" y="2724912"/>
            <a:ext cx="18288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DELIVERY GATES</a:t>
            </a:r>
          </a:p>
        </p:txBody>
      </p:sp>
      <p:sp>
        <p:nvSpPr>
          <p:cNvPr id="25" name="Rounded Rectangle 24"/>
          <p:cNvSpPr/>
          <p:nvPr/>
        </p:nvSpPr>
        <p:spPr>
          <a:xfrm>
            <a:off x="777240" y="3127248"/>
            <a:ext cx="2487168" cy="153619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1832" y="3337560"/>
            <a:ext cx="420624" cy="256032"/>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3374136"/>
            <a:ext cx="347472" cy="182880"/>
          </a:xfrm>
          <a:prstGeom prst="rect">
            <a:avLst/>
          </a:prstGeom>
          <a:noFill/>
        </p:spPr>
        <p:txBody>
          <a:bodyPr wrap="square" lIns="0" rIns="0" tIns="0" bIns="0" anchor="ctr">
            <a:spAutoFit/>
          </a:bodyPr>
          <a:lstStyle/>
          <a:p>
            <a:pPr algn="ctr">
              <a:spcAft>
                <a:spcPts val="0"/>
              </a:spcAft>
              <a:defRPr sz="830" b="1" i="0">
                <a:solidFill>
                  <a:srgbClr val="F4F7FF"/>
                </a:solidFill>
                <a:latin typeface="Aptos"/>
              </a:defRPr>
            </a:pPr>
            <a:r>
              <a:rPr sz="830" b="1" i="0">
                <a:solidFill>
                  <a:srgbClr val="F4F7FF"/>
                </a:solidFill>
                <a:latin typeface="Aptos"/>
              </a:rPr>
              <a:t>01</a:t>
            </a:r>
          </a:p>
        </p:txBody>
      </p:sp>
      <p:sp>
        <p:nvSpPr>
          <p:cNvPr id="28" name="TextBox 27"/>
          <p:cNvSpPr txBox="1"/>
          <p:nvPr/>
        </p:nvSpPr>
        <p:spPr>
          <a:xfrm>
            <a:off x="941832" y="3730752"/>
            <a:ext cx="2139696" cy="256032"/>
          </a:xfrm>
          <a:prstGeom prst="rect">
            <a:avLst/>
          </a:prstGeom>
          <a:noFill/>
        </p:spPr>
        <p:txBody>
          <a:bodyPr wrap="square" lIns="18288" rIns="18288" tIns="18288" bIns="18288" anchor="t">
            <a:spAutoFit/>
          </a:bodyPr>
          <a:lstStyle/>
          <a:p>
            <a:pPr algn="l">
              <a:spcAft>
                <a:spcPts val="0"/>
              </a:spcAft>
              <a:defRPr sz="1200" b="1" i="0">
                <a:solidFill>
                  <a:srgbClr val="F4F7FF"/>
                </a:solidFill>
                <a:latin typeface="Aptos"/>
              </a:defRPr>
            </a:pPr>
            <a:r>
              <a:rPr sz="1200" b="1" i="0">
                <a:solidFill>
                  <a:srgbClr val="F4F7FF"/>
                </a:solidFill>
                <a:latin typeface="Aptos"/>
              </a:rPr>
              <a:t>API + data model</a:t>
            </a:r>
          </a:p>
        </p:txBody>
      </p:sp>
      <p:sp>
        <p:nvSpPr>
          <p:cNvPr id="29" name="TextBox 28"/>
          <p:cNvSpPr txBox="1"/>
          <p:nvPr/>
        </p:nvSpPr>
        <p:spPr>
          <a:xfrm>
            <a:off x="941832" y="4087368"/>
            <a:ext cx="2139696" cy="393192"/>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POST /jobs, GET /jobs, schema, validation</a:t>
            </a:r>
          </a:p>
        </p:txBody>
      </p:sp>
      <p:cxnSp>
        <p:nvCxnSpPr>
          <p:cNvPr id="30" name="Connector 29"/>
          <p:cNvCxnSpPr/>
          <p:nvPr/>
        </p:nvCxnSpPr>
        <p:spPr>
          <a:xfrm>
            <a:off x="3300984" y="3877056"/>
            <a:ext cx="173736" cy="0"/>
          </a:xfrm>
          <a:prstGeom prst="line">
            <a:avLst/>
          </a:prstGeom>
          <a:ln w="19050">
            <a:solidFill>
              <a:srgbClr val="5D7FFF"/>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5400000">
            <a:off x="3410712" y="3813048"/>
            <a:ext cx="128016" cy="128016"/>
          </a:xfrm>
          <a:prstGeom prst="triangl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520440" y="3127248"/>
            <a:ext cx="2487168" cy="153619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685032" y="3337560"/>
            <a:ext cx="420624" cy="256032"/>
          </a:xfrm>
          <a:prstGeom prst="roundRect">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21608" y="3374136"/>
            <a:ext cx="347472" cy="182880"/>
          </a:xfrm>
          <a:prstGeom prst="rect">
            <a:avLst/>
          </a:prstGeom>
          <a:noFill/>
        </p:spPr>
        <p:txBody>
          <a:bodyPr wrap="square" lIns="0" rIns="0" tIns="0" bIns="0" anchor="ctr">
            <a:spAutoFit/>
          </a:bodyPr>
          <a:lstStyle/>
          <a:p>
            <a:pPr algn="ctr">
              <a:spcAft>
                <a:spcPts val="0"/>
              </a:spcAft>
              <a:defRPr sz="830" b="1" i="0">
                <a:solidFill>
                  <a:srgbClr val="F4F7FF"/>
                </a:solidFill>
                <a:latin typeface="Aptos"/>
              </a:defRPr>
            </a:pPr>
            <a:r>
              <a:rPr sz="830" b="1" i="0">
                <a:solidFill>
                  <a:srgbClr val="F4F7FF"/>
                </a:solidFill>
                <a:latin typeface="Aptos"/>
              </a:rPr>
              <a:t>02</a:t>
            </a:r>
          </a:p>
        </p:txBody>
      </p:sp>
      <p:sp>
        <p:nvSpPr>
          <p:cNvPr id="35" name="TextBox 34"/>
          <p:cNvSpPr txBox="1"/>
          <p:nvPr/>
        </p:nvSpPr>
        <p:spPr>
          <a:xfrm>
            <a:off x="3685032" y="3730752"/>
            <a:ext cx="2139696" cy="256032"/>
          </a:xfrm>
          <a:prstGeom prst="rect">
            <a:avLst/>
          </a:prstGeom>
          <a:noFill/>
        </p:spPr>
        <p:txBody>
          <a:bodyPr wrap="square" lIns="18288" rIns="18288" tIns="18288" bIns="18288" anchor="t">
            <a:spAutoFit/>
          </a:bodyPr>
          <a:lstStyle/>
          <a:p>
            <a:pPr algn="l">
              <a:spcAft>
                <a:spcPts val="0"/>
              </a:spcAft>
              <a:defRPr sz="1200" b="1" i="0">
                <a:solidFill>
                  <a:srgbClr val="F4F7FF"/>
                </a:solidFill>
                <a:latin typeface="Aptos"/>
              </a:defRPr>
            </a:pPr>
            <a:r>
              <a:rPr sz="1200" b="1" i="0">
                <a:solidFill>
                  <a:srgbClr val="F4F7FF"/>
                </a:solidFill>
                <a:latin typeface="Aptos"/>
              </a:rPr>
              <a:t>Worker + retries</a:t>
            </a:r>
          </a:p>
        </p:txBody>
      </p:sp>
      <p:sp>
        <p:nvSpPr>
          <p:cNvPr id="36" name="TextBox 35"/>
          <p:cNvSpPr txBox="1"/>
          <p:nvPr/>
        </p:nvSpPr>
        <p:spPr>
          <a:xfrm>
            <a:off x="3685032" y="4087368"/>
            <a:ext cx="2139696" cy="393192"/>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Safe claim, state transitions, bounded retry</a:t>
            </a:r>
          </a:p>
        </p:txBody>
      </p:sp>
      <p:cxnSp>
        <p:nvCxnSpPr>
          <p:cNvPr id="37" name="Connector 36"/>
          <p:cNvCxnSpPr/>
          <p:nvPr/>
        </p:nvCxnSpPr>
        <p:spPr>
          <a:xfrm>
            <a:off x="6044183" y="3877056"/>
            <a:ext cx="173737" cy="0"/>
          </a:xfrm>
          <a:prstGeom prst="line">
            <a:avLst/>
          </a:prstGeom>
          <a:ln w="19050">
            <a:solidFill>
              <a:srgbClr val="3DE0D6"/>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5400000">
            <a:off x="6153912" y="3813048"/>
            <a:ext cx="128016" cy="128016"/>
          </a:xfrm>
          <a:prstGeom prst="triangl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263640" y="3127248"/>
            <a:ext cx="2487168" cy="153619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428231" y="3337560"/>
            <a:ext cx="420624" cy="256032"/>
          </a:xfrm>
          <a:prstGeom prst="roundRect">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64807" y="3374136"/>
            <a:ext cx="347472" cy="182880"/>
          </a:xfrm>
          <a:prstGeom prst="rect">
            <a:avLst/>
          </a:prstGeom>
          <a:noFill/>
        </p:spPr>
        <p:txBody>
          <a:bodyPr wrap="square" lIns="0" rIns="0" tIns="0" bIns="0" anchor="ctr">
            <a:spAutoFit/>
          </a:bodyPr>
          <a:lstStyle/>
          <a:p>
            <a:pPr algn="ctr">
              <a:spcAft>
                <a:spcPts val="0"/>
              </a:spcAft>
              <a:defRPr sz="830" b="1" i="0">
                <a:solidFill>
                  <a:srgbClr val="F4F7FF"/>
                </a:solidFill>
                <a:latin typeface="Aptos"/>
              </a:defRPr>
            </a:pPr>
            <a:r>
              <a:rPr sz="830" b="1" i="0">
                <a:solidFill>
                  <a:srgbClr val="F4F7FF"/>
                </a:solidFill>
                <a:latin typeface="Aptos"/>
              </a:rPr>
              <a:t>03</a:t>
            </a:r>
          </a:p>
        </p:txBody>
      </p:sp>
      <p:sp>
        <p:nvSpPr>
          <p:cNvPr id="42" name="TextBox 41"/>
          <p:cNvSpPr txBox="1"/>
          <p:nvPr/>
        </p:nvSpPr>
        <p:spPr>
          <a:xfrm>
            <a:off x="6428231" y="3730752"/>
            <a:ext cx="2139696" cy="256032"/>
          </a:xfrm>
          <a:prstGeom prst="rect">
            <a:avLst/>
          </a:prstGeom>
          <a:noFill/>
        </p:spPr>
        <p:txBody>
          <a:bodyPr wrap="square" lIns="18288" rIns="18288" tIns="18288" bIns="18288" anchor="t">
            <a:spAutoFit/>
          </a:bodyPr>
          <a:lstStyle/>
          <a:p>
            <a:pPr algn="l">
              <a:spcAft>
                <a:spcPts val="0"/>
              </a:spcAft>
              <a:defRPr sz="1200" b="1" i="0">
                <a:solidFill>
                  <a:srgbClr val="F4F7FF"/>
                </a:solidFill>
                <a:latin typeface="Aptos"/>
              </a:defRPr>
            </a:pPr>
            <a:r>
              <a:rPr sz="1200" b="1" i="0">
                <a:solidFill>
                  <a:srgbClr val="F4F7FF"/>
                </a:solidFill>
                <a:latin typeface="Aptos"/>
              </a:rPr>
              <a:t>Dashboard + tests</a:t>
            </a:r>
          </a:p>
        </p:txBody>
      </p:sp>
      <p:sp>
        <p:nvSpPr>
          <p:cNvPr id="43" name="TextBox 42"/>
          <p:cNvSpPr txBox="1"/>
          <p:nvPr/>
        </p:nvSpPr>
        <p:spPr>
          <a:xfrm>
            <a:off x="6428231" y="4087368"/>
            <a:ext cx="2139696" cy="393192"/>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Job list, status detail, happy/failure tests</a:t>
            </a:r>
          </a:p>
        </p:txBody>
      </p:sp>
      <p:cxnSp>
        <p:nvCxnSpPr>
          <p:cNvPr id="44" name="Connector 43"/>
          <p:cNvCxnSpPr/>
          <p:nvPr/>
        </p:nvCxnSpPr>
        <p:spPr>
          <a:xfrm>
            <a:off x="8787384" y="3877056"/>
            <a:ext cx="173736" cy="0"/>
          </a:xfrm>
          <a:prstGeom prst="line">
            <a:avLst/>
          </a:prstGeom>
          <a:ln w="19050">
            <a:solidFill>
              <a:srgbClr val="B08BFF"/>
            </a:solidFill>
          </a:ln>
        </p:spPr>
        <p:style>
          <a:lnRef idx="2">
            <a:schemeClr val="accent1"/>
          </a:lnRef>
          <a:fillRef idx="0">
            <a:schemeClr val="accent1"/>
          </a:fillRef>
          <a:effectRef idx="1">
            <a:schemeClr val="accent1"/>
          </a:effectRef>
          <a:fontRef idx="minor">
            <a:schemeClr val="tx1"/>
          </a:fontRef>
        </p:style>
      </p:cxnSp>
      <p:sp>
        <p:nvSpPr>
          <p:cNvPr id="45" name="Isosceles Triangle 44"/>
          <p:cNvSpPr/>
          <p:nvPr/>
        </p:nvSpPr>
        <p:spPr>
          <a:xfrm rot="5400000">
            <a:off x="8897112" y="3813048"/>
            <a:ext cx="128016" cy="128016"/>
          </a:xfrm>
          <a:prstGeom prst="triangl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06840" y="3127248"/>
            <a:ext cx="2487168" cy="1536192"/>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171432" y="3337560"/>
            <a:ext cx="420624" cy="256032"/>
          </a:xfrm>
          <a:prstGeom prst="roundRect">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08007" y="3374136"/>
            <a:ext cx="347472" cy="182880"/>
          </a:xfrm>
          <a:prstGeom prst="rect">
            <a:avLst/>
          </a:prstGeom>
          <a:noFill/>
        </p:spPr>
        <p:txBody>
          <a:bodyPr wrap="square" lIns="0" rIns="0" tIns="0" bIns="0" anchor="ctr">
            <a:spAutoFit/>
          </a:bodyPr>
          <a:lstStyle/>
          <a:p>
            <a:pPr algn="ctr">
              <a:spcAft>
                <a:spcPts val="0"/>
              </a:spcAft>
              <a:defRPr sz="830" b="1" i="0">
                <a:solidFill>
                  <a:srgbClr val="F4F7FF"/>
                </a:solidFill>
                <a:latin typeface="Aptos"/>
              </a:defRPr>
            </a:pPr>
            <a:r>
              <a:rPr sz="830" b="1" i="0">
                <a:solidFill>
                  <a:srgbClr val="F4F7FF"/>
                </a:solidFill>
                <a:latin typeface="Aptos"/>
              </a:rPr>
              <a:t>04</a:t>
            </a:r>
          </a:p>
        </p:txBody>
      </p:sp>
      <p:sp>
        <p:nvSpPr>
          <p:cNvPr id="49" name="TextBox 48"/>
          <p:cNvSpPr txBox="1"/>
          <p:nvPr/>
        </p:nvSpPr>
        <p:spPr>
          <a:xfrm>
            <a:off x="9171432" y="3730752"/>
            <a:ext cx="2139696" cy="256032"/>
          </a:xfrm>
          <a:prstGeom prst="rect">
            <a:avLst/>
          </a:prstGeom>
          <a:noFill/>
        </p:spPr>
        <p:txBody>
          <a:bodyPr wrap="square" lIns="18288" rIns="18288" tIns="18288" bIns="18288" anchor="t">
            <a:spAutoFit/>
          </a:bodyPr>
          <a:lstStyle/>
          <a:p>
            <a:pPr algn="l">
              <a:spcAft>
                <a:spcPts val="0"/>
              </a:spcAft>
              <a:defRPr sz="1200" b="1" i="0">
                <a:solidFill>
                  <a:srgbClr val="F4F7FF"/>
                </a:solidFill>
                <a:latin typeface="Aptos"/>
              </a:defRPr>
            </a:pPr>
            <a:r>
              <a:rPr sz="1200" b="1" i="0">
                <a:solidFill>
                  <a:srgbClr val="F4F7FF"/>
                </a:solidFill>
                <a:latin typeface="Aptos"/>
              </a:rPr>
              <a:t>Deploy + document</a:t>
            </a:r>
          </a:p>
        </p:txBody>
      </p:sp>
      <p:sp>
        <p:nvSpPr>
          <p:cNvPr id="50" name="TextBox 49"/>
          <p:cNvSpPr txBox="1"/>
          <p:nvPr/>
        </p:nvSpPr>
        <p:spPr>
          <a:xfrm>
            <a:off x="9171432" y="4087368"/>
            <a:ext cx="2139696" cy="393192"/>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Verified URL, README, env vars, demo script</a:t>
            </a:r>
          </a:p>
        </p:txBody>
      </p:sp>
      <p:sp>
        <p:nvSpPr>
          <p:cNvPr id="51" name="Rounded Rectangle 50"/>
          <p:cNvSpPr/>
          <p:nvPr/>
        </p:nvSpPr>
        <p:spPr>
          <a:xfrm>
            <a:off x="777240" y="5074920"/>
            <a:ext cx="6656832" cy="914400"/>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5840" y="5294376"/>
            <a:ext cx="210312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README MUST INCLUDE</a:t>
            </a:r>
          </a:p>
        </p:txBody>
      </p:sp>
      <p:sp>
        <p:nvSpPr>
          <p:cNvPr id="53" name="TextBox 52"/>
          <p:cNvSpPr txBox="1"/>
          <p:nvPr/>
        </p:nvSpPr>
        <p:spPr>
          <a:xfrm>
            <a:off x="1005840" y="5577840"/>
            <a:ext cx="6172200" cy="201168"/>
          </a:xfrm>
          <a:prstGeom prst="rect">
            <a:avLst/>
          </a:prstGeom>
          <a:noFill/>
        </p:spPr>
        <p:txBody>
          <a:bodyPr wrap="square" lIns="18288" rIns="18288" tIns="18288" bIns="18288" anchor="t">
            <a:spAutoFit/>
          </a:bodyPr>
          <a:lstStyle/>
          <a:p>
            <a:pPr algn="l">
              <a:spcAft>
                <a:spcPts val="0"/>
              </a:spcAft>
              <a:defRPr sz="1000" b="1" i="0">
                <a:solidFill>
                  <a:srgbClr val="F4F7FF"/>
                </a:solidFill>
                <a:latin typeface="Aptos"/>
              </a:defRPr>
            </a:pPr>
            <a:r>
              <a:rPr sz="1000" b="1" i="0">
                <a:solidFill>
                  <a:srgbClr val="F4F7FF"/>
                </a:solidFill>
                <a:latin typeface="Aptos"/>
              </a:rPr>
              <a:t>Local setup • worker command • tests • environment variables • deployment steps</a:t>
            </a:r>
          </a:p>
        </p:txBody>
      </p:sp>
      <p:sp>
        <p:nvSpPr>
          <p:cNvPr id="54" name="Rounded Rectangle 53"/>
          <p:cNvSpPr/>
          <p:nvPr/>
        </p:nvSpPr>
        <p:spPr>
          <a:xfrm>
            <a:off x="7708392" y="5074920"/>
            <a:ext cx="3721608" cy="914400"/>
          </a:xfrm>
          <a:prstGeom prst="roundRect">
            <a:avLst/>
          </a:prstGeom>
          <a:solidFill>
            <a:srgbClr val="17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55279" y="5294376"/>
            <a:ext cx="1691640" cy="201168"/>
          </a:xfrm>
          <a:prstGeom prst="rect">
            <a:avLst/>
          </a:prstGeom>
          <a:noFill/>
        </p:spPr>
        <p:txBody>
          <a:bodyPr wrap="square" lIns="18288" rIns="18288" tIns="18288" bIns="18288" anchor="t">
            <a:spAutoFit/>
          </a:bodyPr>
          <a:lstStyle/>
          <a:p>
            <a:pPr algn="l">
              <a:spcAft>
                <a:spcPts val="0"/>
              </a:spcAft>
              <a:defRPr sz="900" b="1" i="0">
                <a:solidFill>
                  <a:srgbClr val="FFC25E"/>
                </a:solidFill>
                <a:latin typeface="Aptos"/>
              </a:defRPr>
            </a:pPr>
            <a:r>
              <a:rPr sz="900" b="1" i="0" spc="80">
                <a:solidFill>
                  <a:srgbClr val="FFC25E"/>
                </a:solidFill>
                <a:latin typeface="Aptos"/>
              </a:rPr>
              <a:t>CONFIG VIA ENV</a:t>
            </a:r>
          </a:p>
        </p:txBody>
      </p:sp>
      <p:sp>
        <p:nvSpPr>
          <p:cNvPr id="56" name="TextBox 55"/>
          <p:cNvSpPr txBox="1"/>
          <p:nvPr/>
        </p:nvSpPr>
        <p:spPr>
          <a:xfrm>
            <a:off x="7955279" y="5577840"/>
            <a:ext cx="3182112" cy="256032"/>
          </a:xfrm>
          <a:prstGeom prst="rect">
            <a:avLst/>
          </a:prstGeom>
          <a:noFill/>
        </p:spPr>
        <p:txBody>
          <a:bodyPr wrap="square" lIns="18288" rIns="18288" tIns="18288" bIns="18288" anchor="t">
            <a:spAutoFit/>
          </a:bodyPr>
          <a:lstStyle/>
          <a:p>
            <a:pPr algn="l">
              <a:spcAft>
                <a:spcPts val="0"/>
              </a:spcAft>
              <a:defRPr sz="860" b="1" i="0">
                <a:solidFill>
                  <a:srgbClr val="F4F7FF"/>
                </a:solidFill>
                <a:latin typeface="Aptos"/>
              </a:defRPr>
            </a:pPr>
            <a:r>
              <a:rPr sz="860" b="1" i="0">
                <a:solidFill>
                  <a:srgbClr val="F4F7FF"/>
                </a:solidFill>
                <a:latin typeface="Aptos"/>
              </a:rPr>
              <a:t>DATABASE_URL  •  MAX_ATTEMPTS  •  RETRY_DELAY_SECONDS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0E1C"/>
        </a:solidFill>
        <a:effectLst/>
      </p:bgPr>
    </p:bg>
    <p:spTree>
      <p:nvGrpSpPr>
        <p:cNvPr id="1" name=""/>
        <p:cNvGrpSpPr/>
        <p:nvPr/>
      </p:nvGrpSpPr>
      <p:grpSpPr/>
      <p:sp>
        <p:nvSpPr>
          <p:cNvPr id="2" name="Rectangle 1"/>
          <p:cNvSpPr/>
          <p:nvPr/>
        </p:nvSpPr>
        <p:spPr>
          <a:xfrm>
            <a:off x="0" y="0"/>
            <a:ext cx="64008" cy="6858000"/>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29184"/>
            <a:ext cx="548640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09  /  EVALUATOR WALK-THROUGH</a:t>
            </a:r>
          </a:p>
        </p:txBody>
      </p:sp>
      <p:sp>
        <p:nvSpPr>
          <p:cNvPr id="4" name="TextBox 3"/>
          <p:cNvSpPr txBox="1"/>
          <p:nvPr/>
        </p:nvSpPr>
        <p:spPr>
          <a:xfrm>
            <a:off x="621792" y="658368"/>
            <a:ext cx="10607040" cy="576072"/>
          </a:xfrm>
          <a:prstGeom prst="rect">
            <a:avLst/>
          </a:prstGeom>
          <a:noFill/>
        </p:spPr>
        <p:txBody>
          <a:bodyPr wrap="square" lIns="18288" rIns="18288" tIns="18288" bIns="18288" anchor="t">
            <a:spAutoFit/>
          </a:bodyPr>
          <a:lstStyle/>
          <a:p>
            <a:pPr algn="l">
              <a:spcAft>
                <a:spcPts val="0"/>
              </a:spcAft>
              <a:defRPr sz="2700" b="1" i="0">
                <a:solidFill>
                  <a:srgbClr val="F4F7FF"/>
                </a:solidFill>
                <a:latin typeface="Aptos"/>
              </a:defRPr>
            </a:pPr>
            <a:r>
              <a:rPr sz="2700" b="1" i="0">
                <a:solidFill>
                  <a:srgbClr val="F4F7FF"/>
                </a:solidFill>
                <a:latin typeface="Aptos"/>
              </a:rPr>
              <a:t>Show the system working—then explain the trade-offs.</a:t>
            </a:r>
          </a:p>
        </p:txBody>
      </p:sp>
      <p:sp>
        <p:nvSpPr>
          <p:cNvPr id="5" name="Rectangle 4"/>
          <p:cNvSpPr/>
          <p:nvPr/>
        </p:nvSpPr>
        <p:spPr>
          <a:xfrm>
            <a:off x="630936" y="1298448"/>
            <a:ext cx="621792" cy="41148"/>
          </a:xfrm>
          <a:prstGeom prst="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44200" y="347472"/>
            <a:ext cx="777240" cy="182880"/>
          </a:xfrm>
          <a:prstGeom prst="rect">
            <a:avLst/>
          </a:prstGeom>
          <a:noFill/>
        </p:spPr>
        <p:txBody>
          <a:bodyPr wrap="square" lIns="18288" rIns="18288" tIns="18288" bIns="18288" anchor="t">
            <a:spAutoFit/>
          </a:bodyPr>
          <a:lstStyle/>
          <a:p>
            <a:pPr algn="r">
              <a:spcAft>
                <a:spcPts val="0"/>
              </a:spcAft>
              <a:defRPr sz="900" b="1" i="0">
                <a:solidFill>
                  <a:srgbClr val="778BAD"/>
                </a:solidFill>
                <a:latin typeface="Aptos"/>
              </a:defRPr>
            </a:pPr>
            <a:r>
              <a:rPr sz="900" b="1" i="0">
                <a:solidFill>
                  <a:srgbClr val="778BAD"/>
                </a:solidFill>
                <a:latin typeface="Aptos"/>
              </a:rPr>
              <a:t>10  /  10</a:t>
            </a:r>
          </a:p>
        </p:txBody>
      </p:sp>
      <p:cxnSp>
        <p:nvCxnSpPr>
          <p:cNvPr id="7" name="Connector 6"/>
          <p:cNvCxnSpPr/>
          <p:nvPr/>
        </p:nvCxnSpPr>
        <p:spPr>
          <a:xfrm>
            <a:off x="621792" y="6455664"/>
            <a:ext cx="10917936" cy="0"/>
          </a:xfrm>
          <a:prstGeom prst="line">
            <a:avLst/>
          </a:prstGeom>
          <a:ln w="7620">
            <a:solidFill>
              <a:srgbClr val="2C3D5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0936" y="6528816"/>
            <a:ext cx="8869680" cy="155448"/>
          </a:xfrm>
          <a:prstGeom prst="rect">
            <a:avLst/>
          </a:prstGeom>
          <a:noFill/>
        </p:spPr>
        <p:txBody>
          <a:bodyPr wrap="square" lIns="18288" rIns="18288" tIns="18288" bIns="18288" anchor="t">
            <a:spAutoFit/>
          </a:bodyPr>
          <a:lstStyle/>
          <a:p>
            <a:pPr algn="l">
              <a:spcAft>
                <a:spcPts val="0"/>
              </a:spcAft>
              <a:defRPr sz="750" b="1" i="0">
                <a:solidFill>
                  <a:srgbClr val="778BAD"/>
                </a:solidFill>
                <a:latin typeface="Aptos"/>
              </a:defRPr>
            </a:pPr>
            <a:r>
              <a:rPr sz="750" b="1" i="0">
                <a:solidFill>
                  <a:srgbClr val="778BAD"/>
                </a:solidFill>
                <a:latin typeface="Aptos"/>
              </a:rPr>
              <a:t>MVP DESIGN  •  IMPLEMENTATION STATUS NOT VERIFIED</a:t>
            </a:r>
          </a:p>
        </p:txBody>
      </p:sp>
      <p:sp>
        <p:nvSpPr>
          <p:cNvPr id="9" name="TextBox 8"/>
          <p:cNvSpPr txBox="1"/>
          <p:nvPr/>
        </p:nvSpPr>
        <p:spPr>
          <a:xfrm>
            <a:off x="11082528" y="6519672"/>
            <a:ext cx="393192" cy="155448"/>
          </a:xfrm>
          <a:prstGeom prst="rect">
            <a:avLst/>
          </a:prstGeom>
          <a:noFill/>
        </p:spPr>
        <p:txBody>
          <a:bodyPr wrap="square" lIns="18288" rIns="18288" tIns="18288" bIns="18288" anchor="t">
            <a:spAutoFit/>
          </a:bodyPr>
          <a:lstStyle/>
          <a:p>
            <a:pPr algn="r">
              <a:spcAft>
                <a:spcPts val="0"/>
              </a:spcAft>
              <a:defRPr sz="800" b="1" i="0">
                <a:solidFill>
                  <a:srgbClr val="778BAD"/>
                </a:solidFill>
                <a:latin typeface="Aptos"/>
              </a:defRPr>
            </a:pPr>
            <a:r>
              <a:rPr sz="800" b="1" i="0">
                <a:solidFill>
                  <a:srgbClr val="778BAD"/>
                </a:solidFill>
                <a:latin typeface="Aptos"/>
              </a:rPr>
              <a:t>10</a:t>
            </a:r>
          </a:p>
        </p:txBody>
      </p:sp>
      <p:sp>
        <p:nvSpPr>
          <p:cNvPr id="10" name="TextBox 9"/>
          <p:cNvSpPr txBox="1"/>
          <p:nvPr/>
        </p:nvSpPr>
        <p:spPr>
          <a:xfrm>
            <a:off x="768096" y="1682496"/>
            <a:ext cx="3840480" cy="201168"/>
          </a:xfrm>
          <a:prstGeom prst="rect">
            <a:avLst/>
          </a:prstGeom>
          <a:noFill/>
        </p:spPr>
        <p:txBody>
          <a:bodyPr wrap="square" lIns="18288" rIns="18288" tIns="18288" bIns="18288" anchor="t">
            <a:spAutoFit/>
          </a:bodyPr>
          <a:lstStyle/>
          <a:p>
            <a:pPr algn="l">
              <a:spcAft>
                <a:spcPts val="0"/>
              </a:spcAft>
              <a:defRPr sz="900" b="1" i="0">
                <a:solidFill>
                  <a:srgbClr val="3DE0D6"/>
                </a:solidFill>
                <a:latin typeface="Aptos"/>
              </a:defRPr>
            </a:pPr>
            <a:r>
              <a:rPr sz="900" b="1" i="0" spc="80">
                <a:solidFill>
                  <a:srgbClr val="3DE0D6"/>
                </a:solidFill>
                <a:latin typeface="Aptos"/>
              </a:rPr>
              <a:t>DEMO SCRIPT  /  RUN AFTER IMPLEMENTATION</a:t>
            </a:r>
          </a:p>
        </p:txBody>
      </p:sp>
      <p:sp>
        <p:nvSpPr>
          <p:cNvPr id="11" name="Oval 10"/>
          <p:cNvSpPr/>
          <p:nvPr/>
        </p:nvSpPr>
        <p:spPr>
          <a:xfrm>
            <a:off x="804672" y="2029968"/>
            <a:ext cx="347472" cy="347472"/>
          </a:xfrm>
          <a:prstGeom prst="ellipse">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 y="2130552"/>
            <a:ext cx="246888" cy="118872"/>
          </a:xfrm>
          <a:prstGeom prst="rect">
            <a:avLst/>
          </a:prstGeom>
          <a:noFill/>
        </p:spPr>
        <p:txBody>
          <a:bodyPr wrap="square" lIns="18288" rIns="18288" tIns="18288" bIns="18288" anchor="t">
            <a:spAutoFit/>
          </a:bodyPr>
          <a:lstStyle/>
          <a:p>
            <a:pPr algn="ctr">
              <a:spcAft>
                <a:spcPts val="0"/>
              </a:spcAft>
              <a:defRPr sz="850" b="1" i="0">
                <a:solidFill>
                  <a:srgbClr val="090E1C"/>
                </a:solidFill>
                <a:latin typeface="Aptos"/>
              </a:defRPr>
            </a:pPr>
            <a:r>
              <a:rPr sz="850" b="1" i="0">
                <a:solidFill>
                  <a:srgbClr val="090E1C"/>
                </a:solidFill>
                <a:latin typeface="Aptos"/>
              </a:rPr>
              <a:t>01</a:t>
            </a:r>
          </a:p>
        </p:txBody>
      </p:sp>
      <p:sp>
        <p:nvSpPr>
          <p:cNvPr id="13" name="TextBox 12"/>
          <p:cNvSpPr txBox="1"/>
          <p:nvPr/>
        </p:nvSpPr>
        <p:spPr>
          <a:xfrm>
            <a:off x="1353312" y="2034540"/>
            <a:ext cx="2331720" cy="201168"/>
          </a:xfrm>
          <a:prstGeom prst="rect">
            <a:avLst/>
          </a:prstGeom>
          <a:noFill/>
        </p:spPr>
        <p:txBody>
          <a:bodyPr wrap="square" lIns="18288" rIns="18288" tIns="18288" bIns="18288" anchor="t">
            <a:spAutoFit/>
          </a:bodyPr>
          <a:lstStyle/>
          <a:p>
            <a:pPr algn="l">
              <a:spcAft>
                <a:spcPts val="0"/>
              </a:spcAft>
              <a:defRPr sz="1120" b="1" i="0">
                <a:solidFill>
                  <a:srgbClr val="F4F7FF"/>
                </a:solidFill>
                <a:latin typeface="Aptos"/>
              </a:defRPr>
            </a:pPr>
            <a:r>
              <a:rPr sz="1120" b="1" i="0">
                <a:solidFill>
                  <a:srgbClr val="F4F7FF"/>
                </a:solidFill>
                <a:latin typeface="Aptos"/>
              </a:rPr>
              <a:t>Create a job</a:t>
            </a:r>
          </a:p>
        </p:txBody>
      </p:sp>
      <p:sp>
        <p:nvSpPr>
          <p:cNvPr id="14" name="TextBox 13"/>
          <p:cNvSpPr txBox="1"/>
          <p:nvPr/>
        </p:nvSpPr>
        <p:spPr>
          <a:xfrm>
            <a:off x="3657600" y="2034540"/>
            <a:ext cx="2194560" cy="301752"/>
          </a:xfrm>
          <a:prstGeom prst="rect">
            <a:avLst/>
          </a:prstGeom>
          <a:noFill/>
        </p:spPr>
        <p:txBody>
          <a:bodyPr wrap="square" lIns="18288" rIns="18288" tIns="18288" bIns="18288" anchor="t">
            <a:spAutoFit/>
          </a:bodyPr>
          <a:lstStyle/>
          <a:p>
            <a:pPr algn="l">
              <a:spcAft>
                <a:spcPts val="0"/>
              </a:spcAft>
              <a:defRPr sz="930" b="0" i="0">
                <a:solidFill>
                  <a:srgbClr val="A5B4CF"/>
                </a:solidFill>
                <a:latin typeface="Aptos"/>
              </a:defRPr>
            </a:pPr>
            <a:r>
              <a:rPr sz="930" b="0" i="0">
                <a:solidFill>
                  <a:srgbClr val="A5B4CF"/>
                </a:solidFill>
                <a:latin typeface="Aptos"/>
              </a:rPr>
              <a:t>POST /jobs returns 202 + job ID.</a:t>
            </a:r>
          </a:p>
        </p:txBody>
      </p:sp>
      <p:sp>
        <p:nvSpPr>
          <p:cNvPr id="15" name="Oval 14"/>
          <p:cNvSpPr/>
          <p:nvPr/>
        </p:nvSpPr>
        <p:spPr>
          <a:xfrm>
            <a:off x="804672" y="2688336"/>
            <a:ext cx="347472" cy="347472"/>
          </a:xfrm>
          <a:prstGeom prst="ellipse">
            <a:avLst/>
          </a:prstGeom>
          <a:solidFill>
            <a:srgbClr val="3DE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 y="2788920"/>
            <a:ext cx="246888" cy="118872"/>
          </a:xfrm>
          <a:prstGeom prst="rect">
            <a:avLst/>
          </a:prstGeom>
          <a:noFill/>
        </p:spPr>
        <p:txBody>
          <a:bodyPr wrap="square" lIns="18288" rIns="18288" tIns="18288" bIns="18288" anchor="t">
            <a:spAutoFit/>
          </a:bodyPr>
          <a:lstStyle/>
          <a:p>
            <a:pPr algn="ctr">
              <a:spcAft>
                <a:spcPts val="0"/>
              </a:spcAft>
              <a:defRPr sz="850" b="1" i="0">
                <a:solidFill>
                  <a:srgbClr val="090E1C"/>
                </a:solidFill>
                <a:latin typeface="Aptos"/>
              </a:defRPr>
            </a:pPr>
            <a:r>
              <a:rPr sz="850" b="1" i="0">
                <a:solidFill>
                  <a:srgbClr val="090E1C"/>
                </a:solidFill>
                <a:latin typeface="Aptos"/>
              </a:rPr>
              <a:t>02</a:t>
            </a:r>
          </a:p>
        </p:txBody>
      </p:sp>
      <p:sp>
        <p:nvSpPr>
          <p:cNvPr id="17" name="TextBox 16"/>
          <p:cNvSpPr txBox="1"/>
          <p:nvPr/>
        </p:nvSpPr>
        <p:spPr>
          <a:xfrm>
            <a:off x="1353312" y="2692908"/>
            <a:ext cx="2331720" cy="201168"/>
          </a:xfrm>
          <a:prstGeom prst="rect">
            <a:avLst/>
          </a:prstGeom>
          <a:noFill/>
        </p:spPr>
        <p:txBody>
          <a:bodyPr wrap="square" lIns="18288" rIns="18288" tIns="18288" bIns="18288" anchor="t">
            <a:spAutoFit/>
          </a:bodyPr>
          <a:lstStyle/>
          <a:p>
            <a:pPr algn="l">
              <a:spcAft>
                <a:spcPts val="0"/>
              </a:spcAft>
              <a:defRPr sz="1120" b="1" i="0">
                <a:solidFill>
                  <a:srgbClr val="F4F7FF"/>
                </a:solidFill>
                <a:latin typeface="Aptos"/>
              </a:defRPr>
            </a:pPr>
            <a:r>
              <a:rPr sz="1120" b="1" i="0">
                <a:solidFill>
                  <a:srgbClr val="F4F7FF"/>
                </a:solidFill>
                <a:latin typeface="Aptos"/>
              </a:rPr>
              <a:t>Follow execution</a:t>
            </a:r>
          </a:p>
        </p:txBody>
      </p:sp>
      <p:sp>
        <p:nvSpPr>
          <p:cNvPr id="18" name="TextBox 17"/>
          <p:cNvSpPr txBox="1"/>
          <p:nvPr/>
        </p:nvSpPr>
        <p:spPr>
          <a:xfrm>
            <a:off x="3657600" y="2692908"/>
            <a:ext cx="2194560" cy="301752"/>
          </a:xfrm>
          <a:prstGeom prst="rect">
            <a:avLst/>
          </a:prstGeom>
          <a:noFill/>
        </p:spPr>
        <p:txBody>
          <a:bodyPr wrap="square" lIns="18288" rIns="18288" tIns="18288" bIns="18288" anchor="t">
            <a:spAutoFit/>
          </a:bodyPr>
          <a:lstStyle/>
          <a:p>
            <a:pPr algn="l">
              <a:spcAft>
                <a:spcPts val="0"/>
              </a:spcAft>
              <a:defRPr sz="930" b="0" i="0">
                <a:solidFill>
                  <a:srgbClr val="A5B4CF"/>
                </a:solidFill>
                <a:latin typeface="Aptos"/>
              </a:defRPr>
            </a:pPr>
            <a:r>
              <a:rPr sz="930" b="0" i="0">
                <a:solidFill>
                  <a:srgbClr val="A5B4CF"/>
                </a:solidFill>
                <a:latin typeface="Aptos"/>
              </a:rPr>
              <a:t>Watch queued → running → succeeded.</a:t>
            </a:r>
          </a:p>
        </p:txBody>
      </p:sp>
      <p:sp>
        <p:nvSpPr>
          <p:cNvPr id="19" name="Oval 18"/>
          <p:cNvSpPr/>
          <p:nvPr/>
        </p:nvSpPr>
        <p:spPr>
          <a:xfrm>
            <a:off x="804672" y="3346704"/>
            <a:ext cx="347472" cy="347472"/>
          </a:xfrm>
          <a:prstGeom prst="ellipse">
            <a:avLst/>
          </a:prstGeom>
          <a:solidFill>
            <a:srgbClr val="FFC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 y="3447288"/>
            <a:ext cx="246888" cy="118872"/>
          </a:xfrm>
          <a:prstGeom prst="rect">
            <a:avLst/>
          </a:prstGeom>
          <a:noFill/>
        </p:spPr>
        <p:txBody>
          <a:bodyPr wrap="square" lIns="18288" rIns="18288" tIns="18288" bIns="18288" anchor="t">
            <a:spAutoFit/>
          </a:bodyPr>
          <a:lstStyle/>
          <a:p>
            <a:pPr algn="ctr">
              <a:spcAft>
                <a:spcPts val="0"/>
              </a:spcAft>
              <a:defRPr sz="850" b="1" i="0">
                <a:solidFill>
                  <a:srgbClr val="090E1C"/>
                </a:solidFill>
                <a:latin typeface="Aptos"/>
              </a:defRPr>
            </a:pPr>
            <a:r>
              <a:rPr sz="850" b="1" i="0">
                <a:solidFill>
                  <a:srgbClr val="090E1C"/>
                </a:solidFill>
                <a:latin typeface="Aptos"/>
              </a:rPr>
              <a:t>03</a:t>
            </a:r>
          </a:p>
        </p:txBody>
      </p:sp>
      <p:sp>
        <p:nvSpPr>
          <p:cNvPr id="21" name="TextBox 20"/>
          <p:cNvSpPr txBox="1"/>
          <p:nvPr/>
        </p:nvSpPr>
        <p:spPr>
          <a:xfrm>
            <a:off x="1353312" y="3351276"/>
            <a:ext cx="2331720" cy="201168"/>
          </a:xfrm>
          <a:prstGeom prst="rect">
            <a:avLst/>
          </a:prstGeom>
          <a:noFill/>
        </p:spPr>
        <p:txBody>
          <a:bodyPr wrap="square" lIns="18288" rIns="18288" tIns="18288" bIns="18288" anchor="t">
            <a:spAutoFit/>
          </a:bodyPr>
          <a:lstStyle/>
          <a:p>
            <a:pPr algn="l">
              <a:spcAft>
                <a:spcPts val="0"/>
              </a:spcAft>
              <a:defRPr sz="1120" b="1" i="0">
                <a:solidFill>
                  <a:srgbClr val="F4F7FF"/>
                </a:solidFill>
                <a:latin typeface="Aptos"/>
              </a:defRPr>
            </a:pPr>
            <a:r>
              <a:rPr sz="1120" b="1" i="0">
                <a:solidFill>
                  <a:srgbClr val="F4F7FF"/>
                </a:solidFill>
                <a:latin typeface="Aptos"/>
              </a:rPr>
              <a:t>Trigger controlled failure</a:t>
            </a:r>
          </a:p>
        </p:txBody>
      </p:sp>
      <p:sp>
        <p:nvSpPr>
          <p:cNvPr id="22" name="TextBox 21"/>
          <p:cNvSpPr txBox="1"/>
          <p:nvPr/>
        </p:nvSpPr>
        <p:spPr>
          <a:xfrm>
            <a:off x="3657600" y="3351276"/>
            <a:ext cx="2194560" cy="301752"/>
          </a:xfrm>
          <a:prstGeom prst="rect">
            <a:avLst/>
          </a:prstGeom>
          <a:noFill/>
        </p:spPr>
        <p:txBody>
          <a:bodyPr wrap="square" lIns="18288" rIns="18288" tIns="18288" bIns="18288" anchor="t">
            <a:spAutoFit/>
          </a:bodyPr>
          <a:lstStyle/>
          <a:p>
            <a:pPr algn="l">
              <a:spcAft>
                <a:spcPts val="0"/>
              </a:spcAft>
              <a:defRPr sz="930" b="0" i="0">
                <a:solidFill>
                  <a:srgbClr val="A5B4CF"/>
                </a:solidFill>
                <a:latin typeface="Aptos"/>
              </a:defRPr>
            </a:pPr>
            <a:r>
              <a:rPr sz="930" b="0" i="0">
                <a:solidFill>
                  <a:srgbClr val="A5B4CF"/>
                </a:solidFill>
                <a:latin typeface="Aptos"/>
              </a:rPr>
              <a:t>Show retry count and eventual outcome.</a:t>
            </a:r>
          </a:p>
        </p:txBody>
      </p:sp>
      <p:sp>
        <p:nvSpPr>
          <p:cNvPr id="23" name="Oval 22"/>
          <p:cNvSpPr/>
          <p:nvPr/>
        </p:nvSpPr>
        <p:spPr>
          <a:xfrm>
            <a:off x="804672" y="4005072"/>
            <a:ext cx="347472" cy="347472"/>
          </a:xfrm>
          <a:prstGeom prst="ellipse">
            <a:avLst/>
          </a:prstGeom>
          <a:solidFill>
            <a:srgbClr val="6BE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4" y="4105656"/>
            <a:ext cx="246888" cy="118872"/>
          </a:xfrm>
          <a:prstGeom prst="rect">
            <a:avLst/>
          </a:prstGeom>
          <a:noFill/>
        </p:spPr>
        <p:txBody>
          <a:bodyPr wrap="square" lIns="18288" rIns="18288" tIns="18288" bIns="18288" anchor="t">
            <a:spAutoFit/>
          </a:bodyPr>
          <a:lstStyle/>
          <a:p>
            <a:pPr algn="ctr">
              <a:spcAft>
                <a:spcPts val="0"/>
              </a:spcAft>
              <a:defRPr sz="850" b="1" i="0">
                <a:solidFill>
                  <a:srgbClr val="090E1C"/>
                </a:solidFill>
                <a:latin typeface="Aptos"/>
              </a:defRPr>
            </a:pPr>
            <a:r>
              <a:rPr sz="850" b="1" i="0">
                <a:solidFill>
                  <a:srgbClr val="090E1C"/>
                </a:solidFill>
                <a:latin typeface="Aptos"/>
              </a:rPr>
              <a:t>04</a:t>
            </a:r>
          </a:p>
        </p:txBody>
      </p:sp>
      <p:sp>
        <p:nvSpPr>
          <p:cNvPr id="25" name="TextBox 24"/>
          <p:cNvSpPr txBox="1"/>
          <p:nvPr/>
        </p:nvSpPr>
        <p:spPr>
          <a:xfrm>
            <a:off x="1353312" y="4009644"/>
            <a:ext cx="2331720" cy="201168"/>
          </a:xfrm>
          <a:prstGeom prst="rect">
            <a:avLst/>
          </a:prstGeom>
          <a:noFill/>
        </p:spPr>
        <p:txBody>
          <a:bodyPr wrap="square" lIns="18288" rIns="18288" tIns="18288" bIns="18288" anchor="t">
            <a:spAutoFit/>
          </a:bodyPr>
          <a:lstStyle/>
          <a:p>
            <a:pPr algn="l">
              <a:spcAft>
                <a:spcPts val="0"/>
              </a:spcAft>
              <a:defRPr sz="1120" b="1" i="0">
                <a:solidFill>
                  <a:srgbClr val="F4F7FF"/>
                </a:solidFill>
                <a:latin typeface="Aptos"/>
              </a:defRPr>
            </a:pPr>
            <a:r>
              <a:rPr sz="1120" b="1" i="0">
                <a:solidFill>
                  <a:srgbClr val="F4F7FF"/>
                </a:solidFill>
                <a:latin typeface="Aptos"/>
              </a:rPr>
              <a:t>Inspect the record</a:t>
            </a:r>
          </a:p>
        </p:txBody>
      </p:sp>
      <p:sp>
        <p:nvSpPr>
          <p:cNvPr id="26" name="TextBox 25"/>
          <p:cNvSpPr txBox="1"/>
          <p:nvPr/>
        </p:nvSpPr>
        <p:spPr>
          <a:xfrm>
            <a:off x="3657600" y="4009644"/>
            <a:ext cx="2194560" cy="301752"/>
          </a:xfrm>
          <a:prstGeom prst="rect">
            <a:avLst/>
          </a:prstGeom>
          <a:noFill/>
        </p:spPr>
        <p:txBody>
          <a:bodyPr wrap="square" lIns="18288" rIns="18288" tIns="18288" bIns="18288" anchor="t">
            <a:spAutoFit/>
          </a:bodyPr>
          <a:lstStyle/>
          <a:p>
            <a:pPr algn="l">
              <a:spcAft>
                <a:spcPts val="0"/>
              </a:spcAft>
              <a:defRPr sz="930" b="0" i="0">
                <a:solidFill>
                  <a:srgbClr val="A5B4CF"/>
                </a:solidFill>
                <a:latin typeface="Aptos"/>
              </a:defRPr>
            </a:pPr>
            <a:r>
              <a:rPr sz="930" b="0" i="0">
                <a:solidFill>
                  <a:srgbClr val="A5B4CF"/>
                </a:solidFill>
                <a:latin typeface="Aptos"/>
              </a:rPr>
              <a:t>Show status, timestamps, result / error.</a:t>
            </a:r>
          </a:p>
        </p:txBody>
      </p:sp>
      <p:sp>
        <p:nvSpPr>
          <p:cNvPr id="27" name="Oval 26"/>
          <p:cNvSpPr/>
          <p:nvPr/>
        </p:nvSpPr>
        <p:spPr>
          <a:xfrm>
            <a:off x="804672" y="4663440"/>
            <a:ext cx="347472" cy="347472"/>
          </a:xfrm>
          <a:prstGeom prst="ellipse">
            <a:avLst/>
          </a:prstGeom>
          <a:solidFill>
            <a:srgbClr val="B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 y="4764024"/>
            <a:ext cx="246888" cy="118872"/>
          </a:xfrm>
          <a:prstGeom prst="rect">
            <a:avLst/>
          </a:prstGeom>
          <a:noFill/>
        </p:spPr>
        <p:txBody>
          <a:bodyPr wrap="square" lIns="18288" rIns="18288" tIns="18288" bIns="18288" anchor="t">
            <a:spAutoFit/>
          </a:bodyPr>
          <a:lstStyle/>
          <a:p>
            <a:pPr algn="ctr">
              <a:spcAft>
                <a:spcPts val="0"/>
              </a:spcAft>
              <a:defRPr sz="850" b="1" i="0">
                <a:solidFill>
                  <a:srgbClr val="090E1C"/>
                </a:solidFill>
                <a:latin typeface="Aptos"/>
              </a:defRPr>
            </a:pPr>
            <a:r>
              <a:rPr sz="850" b="1" i="0">
                <a:solidFill>
                  <a:srgbClr val="090E1C"/>
                </a:solidFill>
                <a:latin typeface="Aptos"/>
              </a:rPr>
              <a:t>05</a:t>
            </a:r>
          </a:p>
        </p:txBody>
      </p:sp>
      <p:sp>
        <p:nvSpPr>
          <p:cNvPr id="29" name="TextBox 28"/>
          <p:cNvSpPr txBox="1"/>
          <p:nvPr/>
        </p:nvSpPr>
        <p:spPr>
          <a:xfrm>
            <a:off x="1353312" y="4668012"/>
            <a:ext cx="2331720" cy="201168"/>
          </a:xfrm>
          <a:prstGeom prst="rect">
            <a:avLst/>
          </a:prstGeom>
          <a:noFill/>
        </p:spPr>
        <p:txBody>
          <a:bodyPr wrap="square" lIns="18288" rIns="18288" tIns="18288" bIns="18288" anchor="t">
            <a:spAutoFit/>
          </a:bodyPr>
          <a:lstStyle/>
          <a:p>
            <a:pPr algn="l">
              <a:spcAft>
                <a:spcPts val="0"/>
              </a:spcAft>
              <a:defRPr sz="1120" b="1" i="0">
                <a:solidFill>
                  <a:srgbClr val="F4F7FF"/>
                </a:solidFill>
                <a:latin typeface="Aptos"/>
              </a:defRPr>
            </a:pPr>
            <a:r>
              <a:rPr sz="1120" b="1" i="0">
                <a:solidFill>
                  <a:srgbClr val="F4F7FF"/>
                </a:solidFill>
                <a:latin typeface="Aptos"/>
              </a:rPr>
              <a:t>Prove repeatability</a:t>
            </a:r>
          </a:p>
        </p:txBody>
      </p:sp>
      <p:sp>
        <p:nvSpPr>
          <p:cNvPr id="30" name="TextBox 29"/>
          <p:cNvSpPr txBox="1"/>
          <p:nvPr/>
        </p:nvSpPr>
        <p:spPr>
          <a:xfrm>
            <a:off x="3657600" y="4668012"/>
            <a:ext cx="2194560" cy="301752"/>
          </a:xfrm>
          <a:prstGeom prst="rect">
            <a:avLst/>
          </a:prstGeom>
          <a:noFill/>
        </p:spPr>
        <p:txBody>
          <a:bodyPr wrap="square" lIns="18288" rIns="18288" tIns="18288" bIns="18288" anchor="t">
            <a:spAutoFit/>
          </a:bodyPr>
          <a:lstStyle/>
          <a:p>
            <a:pPr algn="l">
              <a:spcAft>
                <a:spcPts val="0"/>
              </a:spcAft>
              <a:defRPr sz="930" b="0" i="0">
                <a:solidFill>
                  <a:srgbClr val="A5B4CF"/>
                </a:solidFill>
                <a:latin typeface="Aptos"/>
              </a:defRPr>
            </a:pPr>
            <a:r>
              <a:rPr sz="930" b="0" i="0">
                <a:solidFill>
                  <a:srgbClr val="A5B4CF"/>
                </a:solidFill>
                <a:latin typeface="Aptos"/>
              </a:rPr>
              <a:t>Run the automated happy + failure tests.</a:t>
            </a:r>
          </a:p>
        </p:txBody>
      </p:sp>
      <p:sp>
        <p:nvSpPr>
          <p:cNvPr id="31" name="Rounded Rectangle 30"/>
          <p:cNvSpPr/>
          <p:nvPr/>
        </p:nvSpPr>
        <p:spPr>
          <a:xfrm>
            <a:off x="6400800" y="1664208"/>
            <a:ext cx="5029200" cy="4160520"/>
          </a:xfrm>
          <a:prstGeom prst="roundRect">
            <a:avLst/>
          </a:prstGeom>
          <a:solidFill>
            <a:srgbClr val="111B30"/>
          </a:solidFill>
          <a:ln w="10160">
            <a:solidFill>
              <a:srgbClr val="2C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56832" y="1920240"/>
            <a:ext cx="2926080" cy="201168"/>
          </a:xfrm>
          <a:prstGeom prst="rect">
            <a:avLst/>
          </a:prstGeom>
          <a:noFill/>
        </p:spPr>
        <p:txBody>
          <a:bodyPr wrap="square" lIns="18288" rIns="18288" tIns="18288" bIns="18288" anchor="t">
            <a:spAutoFit/>
          </a:bodyPr>
          <a:lstStyle/>
          <a:p>
            <a:pPr algn="l">
              <a:spcAft>
                <a:spcPts val="0"/>
              </a:spcAft>
              <a:defRPr sz="900" b="1" i="0">
                <a:solidFill>
                  <a:srgbClr val="B08BFF"/>
                </a:solidFill>
                <a:latin typeface="Aptos"/>
              </a:defRPr>
            </a:pPr>
            <a:r>
              <a:rPr sz="900" b="1" i="0" spc="80">
                <a:solidFill>
                  <a:srgbClr val="B08BFF"/>
                </a:solidFill>
                <a:latin typeface="Aptos"/>
              </a:rPr>
              <a:t>EXPLAIN THESE CHOICES</a:t>
            </a:r>
          </a:p>
        </p:txBody>
      </p:sp>
      <p:sp>
        <p:nvSpPr>
          <p:cNvPr id="33" name="TextBox 32"/>
          <p:cNvSpPr txBox="1"/>
          <p:nvPr/>
        </p:nvSpPr>
        <p:spPr>
          <a:xfrm>
            <a:off x="6675120" y="2331720"/>
            <a:ext cx="1536192" cy="201168"/>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DB polling</a:t>
            </a:r>
          </a:p>
        </p:txBody>
      </p:sp>
      <p:sp>
        <p:nvSpPr>
          <p:cNvPr id="34" name="TextBox 33"/>
          <p:cNvSpPr txBox="1"/>
          <p:nvPr/>
        </p:nvSpPr>
        <p:spPr>
          <a:xfrm>
            <a:off x="8183879" y="2331720"/>
            <a:ext cx="2880360" cy="384048"/>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Simple to deploy; less efficient at high volume.</a:t>
            </a:r>
          </a:p>
        </p:txBody>
      </p:sp>
      <p:cxnSp>
        <p:nvCxnSpPr>
          <p:cNvPr id="35" name="Connector 34"/>
          <p:cNvCxnSpPr/>
          <p:nvPr/>
        </p:nvCxnSpPr>
        <p:spPr>
          <a:xfrm>
            <a:off x="6675120" y="2852927"/>
            <a:ext cx="4407408" cy="0"/>
          </a:xfrm>
          <a:prstGeom prst="line">
            <a:avLst/>
          </a:prstGeom>
          <a:ln w="6985">
            <a:solidFill>
              <a:srgbClr val="2C3D5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675120" y="3026663"/>
            <a:ext cx="1536192" cy="201168"/>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Single worker first</a:t>
            </a:r>
          </a:p>
        </p:txBody>
      </p:sp>
      <p:sp>
        <p:nvSpPr>
          <p:cNvPr id="37" name="TextBox 36"/>
          <p:cNvSpPr txBox="1"/>
          <p:nvPr/>
        </p:nvSpPr>
        <p:spPr>
          <a:xfrm>
            <a:off x="8183879" y="3026663"/>
            <a:ext cx="2880360" cy="384048"/>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Easy to reason about; limited throughput.</a:t>
            </a:r>
          </a:p>
        </p:txBody>
      </p:sp>
      <p:cxnSp>
        <p:nvCxnSpPr>
          <p:cNvPr id="38" name="Connector 37"/>
          <p:cNvCxnSpPr/>
          <p:nvPr/>
        </p:nvCxnSpPr>
        <p:spPr>
          <a:xfrm>
            <a:off x="6675120" y="3547871"/>
            <a:ext cx="4407408" cy="0"/>
          </a:xfrm>
          <a:prstGeom prst="line">
            <a:avLst/>
          </a:prstGeom>
          <a:ln w="6985">
            <a:solidFill>
              <a:srgbClr val="2C3D5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75120" y="3721608"/>
            <a:ext cx="1536192" cy="201168"/>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Bounded retries</a:t>
            </a:r>
          </a:p>
        </p:txBody>
      </p:sp>
      <p:sp>
        <p:nvSpPr>
          <p:cNvPr id="40" name="TextBox 39"/>
          <p:cNvSpPr txBox="1"/>
          <p:nvPr/>
        </p:nvSpPr>
        <p:spPr>
          <a:xfrm>
            <a:off x="8183879" y="3721608"/>
            <a:ext cx="2880360" cy="384048"/>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Recovers transient failures; needs idempotent jobs.</a:t>
            </a:r>
          </a:p>
        </p:txBody>
      </p:sp>
      <p:cxnSp>
        <p:nvCxnSpPr>
          <p:cNvPr id="41" name="Connector 40"/>
          <p:cNvCxnSpPr/>
          <p:nvPr/>
        </p:nvCxnSpPr>
        <p:spPr>
          <a:xfrm>
            <a:off x="6675120" y="4242816"/>
            <a:ext cx="4407408" cy="0"/>
          </a:xfrm>
          <a:prstGeom prst="line">
            <a:avLst/>
          </a:prstGeom>
          <a:ln w="6985">
            <a:solidFill>
              <a:srgbClr val="2C3D5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675120" y="4416552"/>
            <a:ext cx="1536192" cy="201168"/>
          </a:xfrm>
          <a:prstGeom prst="rect">
            <a:avLst/>
          </a:prstGeom>
          <a:noFill/>
        </p:spPr>
        <p:txBody>
          <a:bodyPr wrap="square" lIns="18288" rIns="18288" tIns="18288" bIns="18288" anchor="t">
            <a:spAutoFit/>
          </a:bodyPr>
          <a:lstStyle/>
          <a:p>
            <a:pPr algn="l">
              <a:spcAft>
                <a:spcPts val="0"/>
              </a:spcAft>
              <a:defRPr sz="1019" b="1" i="0">
                <a:solidFill>
                  <a:srgbClr val="F4F7FF"/>
                </a:solidFill>
                <a:latin typeface="Aptos"/>
              </a:defRPr>
            </a:pPr>
            <a:r>
              <a:rPr sz="1019" b="1" i="0">
                <a:solidFill>
                  <a:srgbClr val="F4F7FF"/>
                </a:solidFill>
                <a:latin typeface="Aptos"/>
              </a:rPr>
              <a:t>Basic dashboard</a:t>
            </a:r>
          </a:p>
        </p:txBody>
      </p:sp>
      <p:sp>
        <p:nvSpPr>
          <p:cNvPr id="43" name="TextBox 42"/>
          <p:cNvSpPr txBox="1"/>
          <p:nvPr/>
        </p:nvSpPr>
        <p:spPr>
          <a:xfrm>
            <a:off x="8183879" y="4416552"/>
            <a:ext cx="2880360" cy="384048"/>
          </a:xfrm>
          <a:prstGeom prst="rect">
            <a:avLst/>
          </a:prstGeom>
          <a:noFill/>
        </p:spPr>
        <p:txBody>
          <a:bodyPr wrap="square" lIns="18288" rIns="18288" tIns="18288" bIns="18288" anchor="t">
            <a:spAutoFit/>
          </a:bodyPr>
          <a:lstStyle/>
          <a:p>
            <a:pPr algn="l">
              <a:spcAft>
                <a:spcPts val="0"/>
              </a:spcAft>
              <a:defRPr sz="919" b="0" i="0">
                <a:solidFill>
                  <a:srgbClr val="A5B4CF"/>
                </a:solidFill>
                <a:latin typeface="Aptos"/>
              </a:defRPr>
            </a:pPr>
            <a:r>
              <a:rPr sz="919" b="0" i="0">
                <a:solidFill>
                  <a:srgbClr val="A5B4CF"/>
                </a:solidFill>
                <a:latin typeface="Aptos"/>
              </a:rPr>
              <a:t>Enough for demo; not full observability.</a:t>
            </a:r>
          </a:p>
        </p:txBody>
      </p:sp>
      <p:sp>
        <p:nvSpPr>
          <p:cNvPr id="44" name="Rounded Rectangle 43"/>
          <p:cNvSpPr/>
          <p:nvPr/>
        </p:nvSpPr>
        <p:spPr>
          <a:xfrm>
            <a:off x="6656832" y="5303520"/>
            <a:ext cx="4517136" cy="310896"/>
          </a:xfrm>
          <a:prstGeom prst="roundRect">
            <a:avLst/>
          </a:prstGeom>
          <a:solidFill>
            <a:srgbClr val="1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0" y="5394960"/>
            <a:ext cx="4315968" cy="128016"/>
          </a:xfrm>
          <a:prstGeom prst="rect">
            <a:avLst/>
          </a:prstGeom>
          <a:noFill/>
        </p:spPr>
        <p:txBody>
          <a:bodyPr wrap="square" lIns="18288" rIns="18288" tIns="18288" bIns="18288" anchor="t">
            <a:spAutoFit/>
          </a:bodyPr>
          <a:lstStyle/>
          <a:p>
            <a:pPr algn="ctr">
              <a:spcAft>
                <a:spcPts val="0"/>
              </a:spcAft>
              <a:defRPr sz="830" b="1" i="0">
                <a:solidFill>
                  <a:srgbClr val="3DE0D6"/>
                </a:solidFill>
                <a:latin typeface="Aptos"/>
              </a:defRPr>
            </a:pPr>
            <a:r>
              <a:rPr sz="830" b="1" i="0">
                <a:solidFill>
                  <a:srgbClr val="3DE0D6"/>
                </a:solidFill>
                <a:latin typeface="Aptos"/>
              </a:rPr>
              <a:t>NEXT: auth • metrics • stale-job recovery • dedicated broker</a:t>
            </a:r>
          </a:p>
        </p:txBody>
      </p:sp>
      <p:sp>
        <p:nvSpPr>
          <p:cNvPr id="46" name="Rounded Rectangle 45"/>
          <p:cNvSpPr/>
          <p:nvPr/>
        </p:nvSpPr>
        <p:spPr>
          <a:xfrm>
            <a:off x="768096" y="5760720"/>
            <a:ext cx="10661904" cy="420624"/>
          </a:xfrm>
          <a:prstGeom prst="roundRect">
            <a:avLst/>
          </a:prstGeom>
          <a:solidFill>
            <a:srgbClr val="5D7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0120" y="5879592"/>
            <a:ext cx="10259568" cy="155448"/>
          </a:xfrm>
          <a:prstGeom prst="rect">
            <a:avLst/>
          </a:prstGeom>
          <a:noFill/>
        </p:spPr>
        <p:txBody>
          <a:bodyPr wrap="square" lIns="18288" rIns="18288" tIns="18288" bIns="18288" anchor="t">
            <a:spAutoFit/>
          </a:bodyPr>
          <a:lstStyle/>
          <a:p>
            <a:pPr algn="ctr">
              <a:spcAft>
                <a:spcPts val="0"/>
              </a:spcAft>
              <a:defRPr sz="1100" b="1" i="0">
                <a:solidFill>
                  <a:srgbClr val="F4F7FF"/>
                </a:solidFill>
                <a:latin typeface="Aptos"/>
              </a:defRPr>
            </a:pPr>
            <a:r>
              <a:rPr sz="1100" b="1" i="0">
                <a:solidFill>
                  <a:srgbClr val="F4F7FF"/>
                </a:solidFill>
                <a:latin typeface="Aptos"/>
              </a:rPr>
              <a:t>A successful MVP = verified demo URL + README + working happy path + tested failure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Background Job Queue | Evaluator Deck (Upgraded)</dc:title>
  <dc:subject>Modern tech presentation for a proposed backend MVP</dc:subject>
  <dc:creator>OpenAI</dc:creator>
  <cp:keywords>background jobs, queue, FastAPI, worker, retries, job status, MVP</cp:keywords>
  <dc:description>Redesigned 10-slide evaluator deck. Architecture and UI visuals are proposals; implementation and deployment status are not verified.</dc:description>
  <cp:lastModifiedBy>Steve Canny</cp:lastModifiedBy>
  <cp:revision>1</cp:revision>
  <dcterms:created xsi:type="dcterms:W3CDTF">2013-01-27T09:14:16Z</dcterms:created>
  <dcterms:modified xsi:type="dcterms:W3CDTF">2013-01-27T09:15:58Z</dcterms:modified>
  <cp:category/>
</cp:coreProperties>
</file>